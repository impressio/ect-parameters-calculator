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13"/>
    <p:sldId id="257" r:id="rId14"/>
    <p:sldId id="258" r:id="rId15"/>
    <p:sldId id="259" r:id="rId12"/>
    <p:sldId id="260" r:id="rId11"/>
    <p:sldId id="261" r:id="rId10"/>
    <p:sldId id="262" r:id="rId9"/>
    <p:sldId id="263" r:id="rId8"/>
    <p:sldId id="264" r:id="rId7"/>
    <p:sldId id="265" r:id="rId6"/>
    <p:sldId id="266" r:id="rId5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ktioner" id="{2CE78CED-5BFF-4E73-9F86-7FD6AA461B08}">
          <p14:sldIdLst>
            <p14:sldId id="292"/>
            <p14:sldId id="293"/>
            <p14:sldId id="2828"/>
            <p14:sldId id="306"/>
            <p14:sldId id="2826"/>
          </p14:sldIdLst>
        </p14:section>
        <p14:section name="Presentation" id="{B972C155-D5BF-46A7-B591-A42909CFC1FA}">
          <p14:sldIdLst>
            <p14:sldId id="2834"/>
            <p14:sldId id="295"/>
            <p14:sldId id="2831"/>
            <p14:sldId id="2836"/>
            <p14:sldId id="2832"/>
            <p14:sldId id="28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A02473-F18C-15B9-053B-CCCCB4E9945D}" name="Lisa Karlsson Vukovich" initials="LK" userId="S::liska63@vgregion.se::0c3dd025-53d7-4e3b-8f85-2596bc1f6314" providerId="AD"/>
  <p188:author id="{4B7DACD7-482A-F627-0A51-F937E4973B68}" name="Therése Oskarsson" initials="TO" userId="S::theos3@vgregion.se::09bd62a5-b9d4-44e6-8650-4c1ef0ef24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3B1024-63BC-4704-8649-4EBEAC759528}" v="46" dt="2025-12-04T10:41:08.120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just format 1 - Dekorfär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Andel (%)</c:v>
                </c:pt>
              </c:strCache>
            </c:strRef>
          </c:tx>
          <c:spPr>
            <a:solidFill>
              <a:schemeClr val="accent1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600" b="1"/>
                      <a:t>19,0 %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600" b="1"/>
                      <a:t>68,4 %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600" b="1"/>
                      <a:t>12,6 %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0,25-0,47 ms</c:v>
                </c:pt>
                <c:pt idx="1">
                  <c:v>0,50 ms</c:v>
                </c:pt>
                <c:pt idx="2">
                  <c:v>0,51-1,00 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19.0</c:v>
                </c:pt>
                <c:pt idx="1">
                  <c:v>68.4</c:v>
                </c:pt>
                <c:pt idx="2">
                  <c:v>12.6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chemeClr val="bg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 b="0">
                    <a:latin typeface="Verdana"/>
                  </a:rPr>
                  <a:t>Andel patienter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400">
          <a:solidFill>
            <a:schemeClr val="tx1"/>
          </a:solidFill>
          <a:latin typeface="Verdana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EA9C0E35-84B6-7F5A-0DF4-954D903BFE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9C67742-94E7-A406-2FD2-37F9B6E3C9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95CB1-8D9E-4D39-BD5A-3714F899CBAC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EA470E6-6438-A282-EB64-049EBCB70A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6DED696-253C-AAC0-DB7E-65090849E0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10E5F-6630-4A69-9755-6CD736F11B3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59029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9FF5E-32DB-4A63-9882-8F301C111A15}" type="datetimeFigureOut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BFA82-BD73-4185-B828-63168F0B549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942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Välkomna.</a:t>
            </a:r>
          </a:p>
          <a:p/>
          <a:p>
            <a:r>
              <a:t>Under 30 minuter går vi igenom vad som händer elektriskt när vi ger ECT, hur vi doserar, hur behandlingen går till vid bordet och vad vi ska vara uppmärksamma på.</a:t>
            </a:r>
          </a:p>
          <a:p>
            <a:r>
              <a:t>Därefter frågestund.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 börjar med en kort historik, indikationer och kontraindikationer samt verkningsmekanismer.</a:t>
            </a:r>
          </a:p>
          <a:p/>
          <a:p>
            <a:r>
              <a:t>Sedan fyra delar.</a:t>
            </a:r>
          </a:p>
          <a:p>
            <a:r>
              <a:t>Del ett: stimulus och impedans, med apparaten, rattarna, strömmens väg, elektrodplaceringen och hudförberedelsen.</a:t>
            </a:r>
          </a:p>
          <a:p>
            <a:r>
              <a:t>Del två: doseringen.</a:t>
            </a:r>
          </a:p>
          <a:p>
            <a:r>
              <a:t>Del tre: genomförandet vid bordet.</a:t>
            </a:r>
          </a:p>
          <a:p>
            <a:r>
              <a:t>Del fyra: säkerhet och biverkningar.</a:t>
            </a:r>
          </a:p>
          <a:p/>
          <a:p>
            <a:r>
              <a:t>Frågor tar vi gärna i slutet.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Krampbehandling med läkemedel prövades 1934 och elektriskt utlöst anfall 1938.</a:t>
            </a:r>
          </a:p>
          <a:p>
            <a:r>
              <a:t>Muskelrelaxation infördes 1952 och unilateral ECT 1958.</a:t>
            </a:r>
          </a:p>
          <a:p>
            <a:r>
              <a:t>Sedan 1980-talet doseras ECT efter kramptröskeln med kortpuls.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 vanligaste indikationen är svår depression, särskilt med psykotiska eller melankoliska symtom.</a:t>
            </a:r>
          </a:p>
          <a:p>
            <a:r>
              <a:t>ECT kan vara livräddande vid katatoni och malignt neuroleptikasyndrom, och när patienten är akut suicidal eller slutar äta och dricka.</a:t>
            </a:r>
          </a:p>
          <a:p>
            <a:r>
              <a:t>Andra indikationer är svår eller behandlingsresistent mani, behandlingsresistent depression och schizofreni med otillräcklig effekt av läkemedel, till exempel tillsammans med klozapin.</a:t>
            </a:r>
          </a:p>
          <a:p/>
          <a:p>
            <a:r>
              <a:t>Det finns inga absoluta kontraindikationer: vid vital indikation kan ECT ges även vid svår somatisk sjukdom.</a:t>
            </a:r>
          </a:p>
          <a:p/>
          <a:p>
            <a:r>
              <a:t>Relativa kontraindikationer är tillstånd där blodtrycks- och pulsstegringen eller det ökade intrakraniella trycket under anfallet är farligt: nyligen genomgången hjärtinfarkt, instabil angina, dekompenserad hjärtsvikt, svår aortastenos, aneurysm eller arteriovenös missbildning, förhöjt intrakraniellt tryck och nyligen genomgången stroke eller hjärnblödning.</a:t>
            </a:r>
          </a:p>
          <a:p>
            <a:r>
              <a:t>Hit hör också feokromocytom och näthinneavlossning.</a:t>
            </a:r>
          </a:p>
          <a:p>
            <a:r>
              <a:t>Då krävs riskbedömning och samråd med anestesi, kardiologi eller neurologi.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Vilka mekanismer som betyder mest är inte helt känt.</a:t>
            </a:r>
          </a:p>
          <a:p/>
          <a:p>
            <a:r>
              <a:t>Det generaliserade anfallet är nödvändigt; subkonvulsiv stimulering ger svagare effekt.</a:t>
            </a:r>
          </a:p>
          <a:p>
            <a:r>
              <a:t>Anfallet engagerar specifika nätverk, och högersidig unilateral stimulering aktiverar mer asymmetriskt, medan hjärnstammen alltid aktiveras symmetriskt.</a:t>
            </a:r>
          </a:p>
          <a:p/>
          <a:p>
            <a:r>
              <a:t>ECT påverkar monoaminer och balansen mellan gamma-aminosmörsyra och glutamat och ökar nätverkens hämmande kapacitet.</a:t>
            </a:r>
          </a:p>
          <a:p/>
          <a:p>
            <a:r>
              <a:t>Hypotalamus-hypofys-binjurebarkaxeln, som styr stresshormonerna, fungerar inte normalt vid svår depression; vid melankolisk depression normaliserar ECT stresshormonbalansen i takt med förbättringen.</a:t>
            </a:r>
          </a:p>
          <a:p/>
          <a:p>
            <a:r>
              <a:t>I djurstudier ökar cellnybildningen i hippocampus, men betydelsen hos människa är oklar.</a:t>
            </a:r>
          </a:p>
          <a:p/>
          <a:p>
            <a:r>
              <a:t>Förenklat: upprepade anfall, och den mekanism som avslutar dem, normaliserar successivt sjukdomens funktionella obalans.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ett: stimulus och impedans, alltså vad apparaten levererar och vad som når hjärnan.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 använder MECTA Spectrum 5000 Q i 200 joule-utförande.</a:t>
            </a:r>
          </a:p>
          <a:p>
            <a:r>
              <a:t>Den är en konstantströmsgenerator som ger bifasiska kortpulser, med en strömstyrka på 500 till 900 milliampere enligt ordination.</a:t>
            </a:r>
          </a:p>
          <a:p/>
          <a:p>
            <a:r>
              <a:t>Laddningen ställs in med de fyra rattarna och visas på skärmen; högsta laddning är 1152 millicoulomb, på en 100 joule-reservapparat 576 millicoulomb.</a:t>
            </a:r>
          </a:p>
          <a:p/>
          <a:p>
            <a:r>
              <a:t>Före stimuleringen mäts den statiska impedansen, och apparaten spärrar stimuleringen under 100 eller över 5000 ohm.</a:t>
            </a:r>
          </a:p>
          <a:p>
            <a:r>
              <a:t>Stimuleringsknappen hålls intryckt tills tonen tystnar.</a:t>
            </a:r>
          </a:p>
          <a:p/>
          <a:p>
            <a:r>
              <a:t>Två EEG-kanaler registrerar anfallet, och skrivaren skriver ut pappersremsan efter behandlingen.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MECTA Spectrum 5000 Q har fyra rattar.</a:t>
            </a:r>
          </a:p>
          <a:p>
            <a:r>
              <a:t>Pulsbredden anger hur länge varje puls varar, frekvensen hur många pulspar per sekund, durationen hur länge pulståget pågår och strömstyrkan pulsernas amplitud, 500 till 900 milliampere enligt ordination.</a:t>
            </a:r>
          </a:p>
          <a:p/>
          <a:p>
            <a:r>
              <a:t>Pulserna är bifasiska: varje period har en positiv och en negativ puls, därav faktorn två.</a:t>
            </a:r>
          </a:p>
          <a:p/>
          <a:p>
            <a:r>
              <a:t>Laddningen i millicoulomb är det mått vi ordinerar och dokumenterar.</a:t>
            </a:r>
          </a:p>
          <a:p>
            <a:r>
              <a:t>Exempel: 1,0 millisekunder, 60 hertz, 2,0 sekunder och 800 milliampere ger 192 millicoulomb.</a:t>
            </a:r>
          </a:p>
          <a:p>
            <a:r>
              <a:t>Kontrollera alltid att apparatens skärm visar den ordinerade laddningen.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Skallbenets impedans är ungefär hundra gånger högre än hudens.</a:t>
            </a:r>
          </a:p>
          <a:p>
            <a:r>
              <a:t>Därför leds omkring 99 procent av strömmen genom hud och skalp, där nästan all energi avges som värme.</a:t>
            </a:r>
          </a:p>
          <a:p>
            <a:r>
              <a:t>Hjärnan värms mindre än en tusendels grad.</a:t>
            </a:r>
          </a:p>
          <a:p/>
          <a:p>
            <a:r>
              <a:t>En brännskada kan bara uppstå där elektroden möter huden, och bara om kontakten är dålig, alltså om impedansen i kontaktytan är hög.</a:t>
            </a:r>
          </a:p>
          <a:p>
            <a:r>
              <a:t>En brännskada visar därför att kontakten var dålig just där.</a:t>
            </a:r>
          </a:p>
          <a:p/>
          <a:p>
            <a:r>
              <a:t>Hur mycket ström som når hjärnan varierar dessutom mellan patienter med skallbenets tjocklek och huvudets anatomi.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Statisk impedans mäts före stimuleringen med en svag mätström.</a:t>
            </a:r>
          </a:p>
          <a:p>
            <a:r>
              <a:t>Apparaten spärrar stimuleringen under 100 eller över 5000 ohm.</a:t>
            </a:r>
          </a:p>
          <a:p>
            <a:r>
              <a:t>Det är ett spärrfönster; hos oss är målvärdet omkring 1000 ohm, utifrån klinisk erfarenhet.</a:t>
            </a:r>
          </a:p>
          <a:p/>
          <a:p>
            <a:r>
              <a:t>OVER betyder dålig kontakt: hår, fett, för torr kompress eller för löst tryck.</a:t>
            </a:r>
          </a:p>
          <a:p>
            <a:r>
              <a:t>UNDER betyder en salt- eller gelbrygga mellan elektroderna, så att strömmen går i huden i stället för genom skallen.</a:t>
            </a:r>
          </a:p>
          <a:p/>
          <a:p>
            <a:r>
              <a:t>Dynamisk impedans mäts under pulståget och är lägre, typiskt 150 till 350 ohm.</a:t>
            </a:r>
          </a:p>
          <a:p>
            <a:r>
              <a:t>Ett värde inom fönstret utesluter inte en brygga.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Elektrodplaceringen avgör var strömmen går.</a:t>
            </a:r>
          </a:p>
          <a:p/>
          <a:p>
            <a:r>
              <a:t>Hos oss är högersidig unilateral placering enligt d’Elia förstahandsval.</a:t>
            </a:r>
          </a:p>
          <a:p>
            <a:r>
              <a:t>Den temporala elektroden placeras två och en halv till tre centimeter ovanför mitten av linjen mellan yttre ögonvrån och örats tragus.</a:t>
            </a:r>
          </a:p>
          <a:p>
            <a:r>
              <a:t>Den andra elektroden placeras två och en halv till tre centimeter till höger om hjässans mittpunkt, och avståndet mellan elektroderna ska vara minst tio till tolv centimeter.</a:t>
            </a:r>
          </a:p>
          <a:p/>
          <a:p>
            <a:r>
              <a:t>Vid bitemporal placering sitter en elektrod på samma punkt på båda sidor.</a:t>
            </a:r>
          </a:p>
          <a:p/>
          <a:p>
            <a:r>
              <a:t>EEG registreras med tre elektroder: två i pannan, två till tre centimeter ovanför ögonbrynen, och en referenselektrod under nyckelbenet.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Huden ska vara ren och håret fritt från hårprodukter; det förbereds på vårdavdelningen.</a:t>
            </a:r>
          </a:p>
          <a:p/>
          <a:p>
            <a:r>
              <a:t>Vi använder inte sprit.</a:t>
            </a:r>
          </a:p>
          <a:p>
            <a:r>
              <a:t>Sprit kan ta bort hudfett, men den måste ha torkat helt före stimuleringen, eftersom sprit nära syrgas och elektrisk ström innebär brandrisk.</a:t>
            </a:r>
          </a:p>
          <a:p>
            <a:r>
              <a:t>Alkohol ensam kan dessutom höja impedansen.</a:t>
            </a:r>
          </a:p>
          <a:p/>
          <a:p>
            <a:r>
              <a:t>Hos oss används i första hand små, höggradigt rena kompresser som ligger i en behållare med saltlösning, en flaska natriumklorid, 250 milliliter, med en halv matsked salt.</a:t>
            </a:r>
          </a:p>
          <a:p>
            <a:r>
              <a:t>Kompressen ska vara fuktig men får inte rinna.</a:t>
            </a:r>
          </a:p>
          <a:p>
            <a:r>
              <a:t>Lägg den mellan varje handelektrod och huden strax före stimuleringen.</a:t>
            </a:r>
          </a:p>
          <a:p/>
          <a:p>
            <a:r>
              <a:t>Gel är alternativet.</a:t>
            </a:r>
          </a:p>
          <a:p>
            <a:r>
              <a:t>Låt aldrig vätska eller gel rinna mellan elektrodställena.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Pulsbredden är en avvägning mellan effekt och minnesbiverkningar.</a:t>
            </a:r>
          </a:p>
          <a:p/>
          <a:p>
            <a:r>
              <a:t>Kortpuls, 0,5 till 1,0 millisekunder, är standard hos oss och den vanligaste inställningen i Sverige.</a:t>
            </a:r>
          </a:p>
          <a:p>
            <a:r>
              <a:t>Den har bäst underbyggd effekt, och i det svenska kvalitetsregistret var en pulsbredd på minst 0,5 millisekunder förenad med högre remission.</a:t>
            </a:r>
          </a:p>
          <a:p/>
          <a:p>
            <a:r>
              <a:t>Ultrakort puls, 0,25 till 0,3 millisekunder, ger mindre minnesbiverkningar vid högersidig unilateral behandling: färre subjektiva minnesbesvär i registret och mindre retrograd amnesi i studier.</a:t>
            </a:r>
          </a:p>
          <a:p>
            <a:r>
              <a:t>Priset är något sämre effekt och i genomsnitt ungefär en behandling till.</a:t>
            </a:r>
          </a:p>
          <a:p>
            <a:r>
              <a:t>Ultrakort puls används inte hos oss.</a:t>
            </a:r>
          </a:p>
          <a:p/>
          <a:p>
            <a:r>
              <a:t>Samma laddning i millicoulomb är inte likvärdig vid olika pulsbredd, så ett byte av pulsbredd kräver en ny bedömning av dosen i förhållande till tröskeln.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Svenska registerdata från Brus och medarbetare 2017, 1671 patienter åren 2011 till 2014, visar att 0,5 millisekunder användes hos drygt två tredjedelar.</a:t>
            </a:r>
          </a:p>
          <a:p>
            <a:r>
              <a:t>Ultrakort puls, 0,25 till 0,47 millisekunder, användes hos knappt var femte, men den används inte hos oss.</a:t>
            </a:r>
          </a:p>
          <a:p/>
          <a:p>
            <a:r>
              <a:t>Pulsbredden väljs inte efter ålder eller kön utan efter elektrodplacering, klinisk bild och biverkningar.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två: hur vi bestämmer dosen.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Kramptröskeln är den lägsta laddning som utlöser ett anfall.</a:t>
            </a:r>
          </a:p>
          <a:p>
            <a:r>
              <a:t>Den stiger med åldern, är ofta högre hos män, och påverkas av läkemedel och anestesi.</a:t>
            </a:r>
          </a:p>
          <a:p>
            <a:r>
              <a:t>Den är högre vid bitemporal placering än vid högersidig unilateral placering.</a:t>
            </a:r>
          </a:p>
          <a:p/>
          <a:p>
            <a:r>
              <a:t>Formler och dostabeller med ålder och kön förklarar högst omkring 40 procent av variationen, så empirisk titrering är det mest precisa.</a:t>
            </a:r>
          </a:p>
          <a:p/>
          <a:p>
            <a:r>
              <a:t>Behandlingsdosen är en multipel av tröskeln: vid högersidig unilateral behandling ofta 4 till 6 gånger, vid bitemporal behandling 1,5 till 2,5 gånger.</a:t>
            </a:r>
          </a:p>
          <a:p>
            <a:r>
              <a:t>Unilateral behandling nära tröskeln ger sämre effekt.</a:t>
            </a:r>
          </a:p>
          <a:p/>
          <a:p>
            <a:r>
              <a:t>Två saker är lätta att blanda ihop: tröskeln och behandlingsdosen.</a:t>
            </a:r>
          </a:p>
          <a:p>
            <a:r>
              <a:t>Vid bitemporal placering är tröskeln högre, men det räcker med 1,5 till 2,5 gånger tröskeln.</a:t>
            </a:r>
          </a:p>
          <a:p>
            <a:r>
              <a:t>Vid högersidig unilateral placering är tröskeln lägre, men det krävs 4 till 6 gånger tröskeln.</a:t>
            </a:r>
          </a:p>
          <a:p/>
          <a:p>
            <a:r>
              <a:t>Räkneexempel: högersidig unilateral placering med tröskeln 50 millicoulomb och fem gånger tröskeln ger 250 millicoulomb, bitemporal med tröskeln 75 millicoulomb och två gånger tröskeln ger 150 millicoulomb.</a:t>
            </a:r>
          </a:p>
          <a:p>
            <a:r>
              <a:t>Högersidig unilateral placering får alltså ofta mer laddning, trots lägre tröskel.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Strömstyrkan är inte fast.</a:t>
            </a:r>
          </a:p>
          <a:p>
            <a:r>
              <a:t>Den ställs in enligt ordination inom apparatens intervall, 500 till 900 milliampere i Full Spectrum.</a:t>
            </a:r>
          </a:p>
          <a:p>
            <a:r>
              <a:t>Dosen anpassas i första hand med laddningen, alltså pulsbredd, frekvens och duration.</a:t>
            </a:r>
          </a:p>
          <a:p/>
          <a:p>
            <a:r>
              <a:t>Ingen riktlinje anger att strömstyrkan ska väljas efter ålder, kön eller kroppsvikt.</a:t>
            </a:r>
          </a:p>
          <a:p>
            <a:r>
              <a:t>Hur mycket ström som når hjärnan beror på skallbenets tjocklek, huvudets storlek och hjärnvolymen, inte på vikten.</a:t>
            </a:r>
          </a:p>
          <a:p/>
          <a:p>
            <a:r>
              <a:t>I en randomiserad studie med högersidig unilateral behandling gav 700 och 800 milliampere bättre antidepressiv effekt än 600 milliampere, medan verbalt flöde försämrades vid 800 milliampere.</a:t>
            </a:r>
          </a:p>
          <a:p/>
          <a:p>
            <a:r>
              <a:t>I det svenska kvalitetsregistret 2011 till 2014 fick drygt hälften 528 till 800 milliampere och knappt en tredjedel 900 till 930 milliampere.</a:t>
            </a:r>
          </a:p>
          <a:p/>
          <a:p>
            <a:r>
              <a:t>Individuellt anpassad strömstyrka studeras men är ännu inte klinisk rutin.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tre: genomförandet vid bordet.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Före behandlingen: identitet, fasta sedan midnatt, morgonmediciner enligt ordination och blåstömning.</a:t>
            </a:r>
          </a:p>
          <a:p>
            <a:r>
              <a:t>Blodtrycket tas på avdelningen samma morgon.</a:t>
            </a:r>
          </a:p>
          <a:p>
            <a:r>
              <a:t>Ordinarie antihypertensiva och protonpumpshämmare ges på avdelningen.</a:t>
            </a:r>
          </a:p>
          <a:p/>
          <a:p>
            <a:r>
              <a:t>Sedan uppkoppling, hudförberedelse och preoxygenering.</a:t>
            </a:r>
          </a:p>
          <a:p>
            <a:r>
              <a:t>Efter induktionen ges suxameton för muskelrelaxation.</a:t>
            </a:r>
          </a:p>
          <a:p/>
          <a:p>
            <a:r>
              <a:t>Bitblock och anestesins uttryckliga klartecken: varsågod att stimulera.</a:t>
            </a:r>
          </a:p>
          <a:p>
            <a:r>
              <a:t>Först därefter appliceras handelektroderna och den statiska impedansen kontrolleras.</a:t>
            </a:r>
          </a:p>
          <a:p>
            <a:r>
              <a:t>Stimuleringsknappen hålls intryckt tills tonen tystnar.</a:t>
            </a:r>
          </a:p>
          <a:p/>
          <a:p>
            <a:r>
              <a:t>Därefter anfallsövervakning.</a:t>
            </a:r>
          </a:p>
          <a:p>
            <a:r>
              <a:t>Omedelbart efter att EEG-aktiviteten har upphört mäts blodtrycket igen, eftersom anfallet ger en kraftig blodtrycksstegring.</a:t>
            </a:r>
          </a:p>
          <a:p>
            <a:r>
              <a:t>Sedan uppvak.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motoriska anfallet följs genom att observera patienten och ta tid.</a:t>
            </a:r>
          </a:p>
          <a:p>
            <a:r>
              <a:t>Under själva pulståget drar käke och nacke ihop sig av strömmen; det hör inte till anfallet.</a:t>
            </a:r>
          </a:p>
          <a:p/>
          <a:p>
            <a:r>
              <a:t>Den toniska fasen är en ihållande kontraktion som börjar direkt eller inom några sekunder, vid tröskelnära stimulering upp till tio sekunder senare.</a:t>
            </a:r>
          </a:p>
          <a:p/>
          <a:p>
            <a:r>
              <a:t>Därefter kommer den kloniska fasen med rytmiska ryckningar som blir allt glesare.</a:t>
            </a:r>
          </a:p>
          <a:p>
            <a:r>
              <a:t>Under muskelrelaxation syns de ofta bara i tår, fingrar eller ansikte.</a:t>
            </a:r>
          </a:p>
          <a:p/>
          <a:p>
            <a:r>
              <a:t>När ryckningarna har upphört helt läser du av sekunderna på apparaten: det är den motoriska durationen.</a:t>
            </a:r>
          </a:p>
          <a:p/>
          <a:p>
            <a:r>
              <a:t>Den är vanligen över 20 till 30 sekunder, och EEG-anfallet varar vanligen 10 till 20 sekunder längre.</a:t>
            </a:r>
          </a:p>
          <a:p>
            <a:r>
              <a:t>Sekundgränserna är inga absoluta mått på effekt.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en riktig EEG-registrering från en ECT-behandling, med två kanaler och tidsangivelse i sekunder.</a:t>
            </a:r>
          </a:p>
          <a:p/>
          <a:p>
            <a:r>
              <a:t>Efter stimuleringen kommer rekrytering med snabb aktivitet och låg amplitud, B, som övergår i polyspikar där amplituden ökar, C.</a:t>
            </a:r>
          </a:p>
          <a:p>
            <a:r>
              <a:t>Aktiviteten blir sedan mer regelbunden med theta- och deltavågor, D, och kring 25 sekunder ses tydliga spik-vågkomplex på omkring två till tre hertz, E.</a:t>
            </a:r>
          </a:p>
          <a:p>
            <a:r>
              <a:t>Mönstret avtar, F, och efter omkring 50 sekunder följer postiktal suppression med låg amplitud, G.</a:t>
            </a:r>
          </a:p>
          <a:p/>
          <a:p>
            <a:r>
              <a:t>Utslaget vid H är en rörelseartefakt när syrgasmasken läggs tillbaka.</a:t>
            </a:r>
          </a:p>
          <a:p/>
          <a:p>
            <a:r>
              <a:t>Tecken på ett anfall av god kvalitet är hög amplitud, symmetri mellan kanalerna, ett tydligt slut och djup suppression, men inget enskilt tecken avgör effekten.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Anfallets längd bedöms på två tider: motorisk duration och EEG-tid.</a:t>
            </a:r>
          </a:p>
          <a:p>
            <a:r>
              <a:t>Båda räknas från stimuleringen och läses av i sekunder på apparaten och på utskriften.</a:t>
            </a:r>
          </a:p>
          <a:p/>
          <a:p>
            <a:r>
              <a:t>Vi använder inte manschettmetoden rutinmässigt.</a:t>
            </a:r>
          </a:p>
          <a:p/>
          <a:p>
            <a:r>
              <a:t>Den motoriska durationen slutar när ryckningarna har upphört, och EEG-tiden när EEG planar ut.</a:t>
            </a:r>
          </a:p>
          <a:p>
            <a:r>
              <a:t>Verifiera anfallsslutet på EEG även när motoriken har upphört.</a:t>
            </a:r>
          </a:p>
          <a:p/>
          <a:p>
            <a:r>
              <a:t>Utskriften kommer direkt efter stimuleringen, med testresultat, EEG-spår och behandlingsresultat.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Missat anfall: avvakta minst omkring 20 sekunder för att utesluta fördröjd start, kontrollera kontakt, salt- eller gelbrygga och levererad laddning.</a:t>
            </a:r>
          </a:p>
          <a:p>
            <a:r>
              <a:t>Ny stimulering är ett nytt behandlingsbeslut.</a:t>
            </a:r>
          </a:p>
          <a:p/>
          <a:p>
            <a:r>
              <a:t>Kort anfall: ett kort anfall är inte automatiskt ineffektivt; bedöm EEG och restimulera inte bara för att en sekundgräns underskrids.</a:t>
            </a:r>
          </a:p>
          <a:p>
            <a:r>
              <a:t>Före ny stimulering väntar man 40 till 60 sekunder med ventilation, enligt den regionala riktlinjen och Svenska Psykiatriska Föreningen; American Psychiatric Association anger minst 45 sekunder.</a:t>
            </a:r>
          </a:p>
          <a:p/>
          <a:p>
            <a:r>
              <a:t>Förlängt anfall: enligt intensivvårdsavdelningens rutin bryts kramper som varar längre än en minut med diazepam intravenöst; American Psychiatric Association anger omkring 120 sekunder.</a:t>
            </a:r>
          </a:p>
          <a:p>
            <a:r>
              <a:t>Verifiera anfallsslutet på EEG även när motoriken har upphört.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 fyra: läkemedel och biverkningar.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Bensodiazepiner och antiepileptika höjer tröskeln och kan ge korta eller missade anfall; dosreduktion eller paus ordineras individuellt.</a:t>
            </a:r>
          </a:p>
          <a:p/>
          <a:p>
            <a:r>
              <a:t>Litium kan öka risken för delirium och förlängd neuromuskulär blockad, och sällsynt serotonergt syndrom.</a:t>
            </a:r>
          </a:p>
          <a:p/>
          <a:p>
            <a:r>
              <a:t>Teofyllin kan ge förlängda anfall.</a:t>
            </a:r>
          </a:p>
          <a:p/>
          <a:p>
            <a:r>
              <a:t>Kolinesterashämmare kan förlänga suxametoneffekten och ge bradykardi.</a:t>
            </a:r>
          </a:p>
          <a:p/>
          <a:p>
            <a:r>
              <a:t>Serotoninåterupptagshämmare och serotonin- och noradrenalinåterupptagshämmare kan sällsynt ge serotonergt syndrom tillsammans med ECT.</a:t>
            </a:r>
          </a:p>
          <a:p/>
          <a:p>
            <a:r>
              <a:t>Ordinarie antihypertensiva och protonpumpshämmare ges på avdelningen före 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Minnet är det patienterna oroar sig mest för.</a:t>
            </a:r>
          </a:p>
          <a:p>
            <a:r>
              <a:t>Högersidig unilateral placering i första hand och två behandlingar i veckan kan minska påverkan.</a:t>
            </a:r>
          </a:p>
          <a:p/>
          <a:p>
            <a:r>
              <a:t>Huvudvärk, muskelvärk och illamående är vanliga och behandlas eller förebyggs.</a:t>
            </a:r>
          </a:p>
          <a:p/>
          <a:p>
            <a:r>
              <a:t>Postiktal agitation hanteras lugnt och systematiskt: kontrollera luftväg, syresättning och cirkulation först.</a:t>
            </a:r>
          </a:p>
          <a:p/>
          <a:p>
            <a:r>
              <a:t>Serotonergt syndrom är sällsynt men viktigt att känna igen: klonus, hyperreflexi, tremor, svettning och feber hos en patient med serotonerga läkemedel.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Fem saker att ta med sig.</a:t>
            </a:r>
          </a:p>
          <a:p/>
          <a:p>
            <a:r>
              <a:t>Ett: kontrollera att skärmen visar ordinerad laddning.</a:t>
            </a:r>
          </a:p>
          <a:p>
            <a:r>
              <a:t>Två: god kontakt med ren hud och en saltkompress som inte rinner, utan brygga.</a:t>
            </a:r>
          </a:p>
          <a:p>
            <a:r>
              <a:t>Tre: dosen anpassas med laddningen, och strömstyrkan ställs in enligt ordination.</a:t>
            </a:r>
          </a:p>
          <a:p>
            <a:r>
              <a:t>Fyra: bedöm anfallets längd på motorisk kramp och EEG-tid.</a:t>
            </a:r>
          </a:p>
          <a:p>
            <a:r>
              <a:t>Fem: stäm av läkemedlen inför serien.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kort animerad film på engelska, fyra minuter och 24 sekunder.</a:t>
            </a:r>
          </a:p>
          <a:p/>
          <a:p>
            <a:r>
              <a:t>Den sammanfattar ECT:s historia, hur behandlingen går till i dag och vanliga missuppfattningar, och är en bra inledning till frågestunden.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Två filmer att se i efterhand, på engelska.</a:t>
            </a:r>
          </a:p>
          <a:p/>
          <a:p>
            <a:r>
              <a:t>Den första förklarar hur ECT fungerar, hur återhämtningen går till och vilka patienter behandlingen passar.</a:t>
            </a:r>
          </a:p>
          <a:p/>
          <a:p>
            <a:r>
              <a:t>Den andra är en kort film om 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Tack.</a:t>
            </a:r>
          </a:p>
          <a:p/>
          <a:p>
            <a:r>
              <a:t>Nu öppnar vi för frågor.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1539" y="1076643"/>
            <a:ext cx="5737195" cy="2387600"/>
          </a:xfrm>
        </p:spPr>
        <p:txBody>
          <a:bodyPr anchor="b"/>
          <a:lstStyle>
            <a:lvl1pPr algn="l">
              <a:lnSpc>
                <a:spcPct val="100000"/>
              </a:lnSpc>
              <a:defRPr sz="3500" b="1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5371" y="3761691"/>
            <a:ext cx="5743363" cy="1683433"/>
          </a:xfrm>
        </p:spPr>
        <p:txBody>
          <a:bodyPr/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för att lägga till underrubrik</a:t>
            </a:r>
          </a:p>
        </p:txBody>
      </p:sp>
      <p:sp>
        <p:nvSpPr>
          <p:cNvPr id="10" name="Rektangel: ett hörn rundat 9">
            <a:extLst>
              <a:ext uri="{FF2B5EF4-FFF2-40B4-BE49-F238E27FC236}">
                <a16:creationId xmlns:a16="http://schemas.microsoft.com/office/drawing/2014/main" id="{7E61D836-2BE6-1C11-FBD1-3BB4D68D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517606" y="1400174"/>
            <a:ext cx="1422400" cy="2028821"/>
          </a:xfrm>
          <a:prstGeom prst="round1Rect">
            <a:avLst>
              <a:gd name="adj" fmla="val 3832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Rektangel: ett hörn rundat 10">
            <a:extLst>
              <a:ext uri="{FF2B5EF4-FFF2-40B4-BE49-F238E27FC236}">
                <a16:creationId xmlns:a16="http://schemas.microsoft.com/office/drawing/2014/main" id="{D021E843-F0CA-3668-937E-991E96007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80998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Rektangel: ett hörn rundat 20">
            <a:extLst>
              <a:ext uri="{FF2B5EF4-FFF2-40B4-BE49-F238E27FC236}">
                <a16:creationId xmlns:a16="http://schemas.microsoft.com/office/drawing/2014/main" id="{2779E0F7-FC36-DC8B-F70D-E1EB4B431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940005" y="3428996"/>
            <a:ext cx="1439467" cy="2036754"/>
          </a:xfrm>
          <a:prstGeom prst="round1Rect">
            <a:avLst>
              <a:gd name="adj" fmla="val 3733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ktangel: ett hörn rundat 22">
            <a:extLst>
              <a:ext uri="{FF2B5EF4-FFF2-40B4-BE49-F238E27FC236}">
                <a16:creationId xmlns:a16="http://schemas.microsoft.com/office/drawing/2014/main" id="{262A45B3-FC56-5A48-E32E-99E82C5AB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428997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ktangel: ett hörn rundat 23">
            <a:extLst>
              <a:ext uri="{FF2B5EF4-FFF2-40B4-BE49-F238E27FC236}">
                <a16:creationId xmlns:a16="http://schemas.microsoft.com/office/drawing/2014/main" id="{5BD28DEE-ADA6-15DB-766D-492D1DE78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4448166"/>
            <a:ext cx="1422400" cy="2038355"/>
          </a:xfrm>
          <a:prstGeom prst="round1Rect">
            <a:avLst>
              <a:gd name="adj" fmla="val 3996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Rektangel: ett hörn rundat 24">
            <a:extLst>
              <a:ext uri="{FF2B5EF4-FFF2-40B4-BE49-F238E27FC236}">
                <a16:creationId xmlns:a16="http://schemas.microsoft.com/office/drawing/2014/main" id="{5A1DBF60-A901-55C1-FAE0-9D2BFA62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flipH="1">
            <a:off x="10379475" y="3428999"/>
            <a:ext cx="1422000" cy="2036754"/>
          </a:xfrm>
          <a:prstGeom prst="round1Rect">
            <a:avLst>
              <a:gd name="adj" fmla="val 383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ktangel: ett hörn rundat 25">
            <a:extLst>
              <a:ext uri="{FF2B5EF4-FFF2-40B4-BE49-F238E27FC236}">
                <a16:creationId xmlns:a16="http://schemas.microsoft.com/office/drawing/2014/main" id="{21E11914-6E9E-9412-96FA-D0BE87BBB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V="1">
            <a:off x="8936830" y="5465754"/>
            <a:ext cx="1442643" cy="1020767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Frihandsfigur: Form 27">
            <a:extLst>
              <a:ext uri="{FF2B5EF4-FFF2-40B4-BE49-F238E27FC236}">
                <a16:creationId xmlns:a16="http://schemas.microsoft.com/office/drawing/2014/main" id="{068474CD-0AF3-5001-F209-6782DA68F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6831" y="380997"/>
            <a:ext cx="2867819" cy="3048000"/>
          </a:xfrm>
          <a:custGeom>
            <a:avLst/>
            <a:gdLst>
              <a:gd name="connsiteX0" fmla="*/ 0 w 2867819"/>
              <a:gd name="connsiteY0" fmla="*/ 0 h 3048000"/>
              <a:gd name="connsiteX1" fmla="*/ 2867819 w 2867819"/>
              <a:gd name="connsiteY1" fmla="*/ 0 h 3048000"/>
              <a:gd name="connsiteX2" fmla="*/ 2867819 w 2867819"/>
              <a:gd name="connsiteY2" fmla="*/ 3048000 h 3048000"/>
              <a:gd name="connsiteX3" fmla="*/ 567857 w 2867819"/>
              <a:gd name="connsiteY3" fmla="*/ 3048000 h 3048000"/>
              <a:gd name="connsiteX4" fmla="*/ 0 w 2867819"/>
              <a:gd name="connsiteY4" fmla="*/ 2480143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7819" h="3048000">
                <a:moveTo>
                  <a:pt x="0" y="0"/>
                </a:moveTo>
                <a:lnTo>
                  <a:pt x="2867819" y="0"/>
                </a:lnTo>
                <a:lnTo>
                  <a:pt x="2867819" y="3048000"/>
                </a:lnTo>
                <a:lnTo>
                  <a:pt x="567857" y="3048000"/>
                </a:lnTo>
                <a:cubicBezTo>
                  <a:pt x="254238" y="3048000"/>
                  <a:pt x="0" y="2793762"/>
                  <a:pt x="0" y="24801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36780F7-BBEC-BA23-AD98-6DF901611C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4443" y="6052990"/>
            <a:ext cx="1836244" cy="378825"/>
          </a:xfrm>
          <a:prstGeom prst="rect">
            <a:avLst/>
          </a:prstGeom>
        </p:spPr>
      </p:pic>
      <p:sp>
        <p:nvSpPr>
          <p:cNvPr id="4" name="Rektangel: ett hörn rundat 3">
            <a:extLst>
              <a:ext uri="{FF2B5EF4-FFF2-40B4-BE49-F238E27FC236}">
                <a16:creationId xmlns:a16="http://schemas.microsoft.com/office/drawing/2014/main" id="{76985EAC-E8D5-98A6-B0B5-C9BEC2DC6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 flipV="1">
            <a:off x="10379472" y="5465755"/>
            <a:ext cx="1422003" cy="1020766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67956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me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1539" y="1076643"/>
            <a:ext cx="5737196" cy="2387600"/>
          </a:xfrm>
        </p:spPr>
        <p:txBody>
          <a:bodyPr anchor="b"/>
          <a:lstStyle>
            <a:lvl1pPr algn="l">
              <a:lnSpc>
                <a:spcPct val="100000"/>
              </a:lnSpc>
              <a:defRPr sz="3500" b="1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5372" y="3761691"/>
            <a:ext cx="5737196" cy="1683433"/>
          </a:xfrm>
        </p:spPr>
        <p:txBody>
          <a:bodyPr/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för att lägga till underrubrik</a:t>
            </a:r>
          </a:p>
        </p:txBody>
      </p:sp>
      <p:sp>
        <p:nvSpPr>
          <p:cNvPr id="27" name="Platshållare för bild 26">
            <a:extLst>
              <a:ext uri="{FF2B5EF4-FFF2-40B4-BE49-F238E27FC236}">
                <a16:creationId xmlns:a16="http://schemas.microsoft.com/office/drawing/2014/main" id="{B7586333-1D24-C4E6-41D4-F849486C42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36831" y="380998"/>
            <a:ext cx="2867819" cy="3048000"/>
          </a:xfrm>
          <a:custGeom>
            <a:avLst/>
            <a:gdLst>
              <a:gd name="connsiteX0" fmla="*/ 0 w 2867819"/>
              <a:gd name="connsiteY0" fmla="*/ 0 h 3048000"/>
              <a:gd name="connsiteX1" fmla="*/ 2867819 w 2867819"/>
              <a:gd name="connsiteY1" fmla="*/ 0 h 3048000"/>
              <a:gd name="connsiteX2" fmla="*/ 2867819 w 2867819"/>
              <a:gd name="connsiteY2" fmla="*/ 3048000 h 3048000"/>
              <a:gd name="connsiteX3" fmla="*/ 567857 w 2867819"/>
              <a:gd name="connsiteY3" fmla="*/ 3048000 h 3048000"/>
              <a:gd name="connsiteX4" fmla="*/ 0 w 2867819"/>
              <a:gd name="connsiteY4" fmla="*/ 2480143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7819" h="3048000">
                <a:moveTo>
                  <a:pt x="0" y="0"/>
                </a:moveTo>
                <a:lnTo>
                  <a:pt x="2867819" y="0"/>
                </a:lnTo>
                <a:lnTo>
                  <a:pt x="2867819" y="3048000"/>
                </a:lnTo>
                <a:lnTo>
                  <a:pt x="567857" y="3048000"/>
                </a:lnTo>
                <a:cubicBezTo>
                  <a:pt x="254238" y="3048000"/>
                  <a:pt x="0" y="2793762"/>
                  <a:pt x="0" y="2480143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2" name="Rektangel: ett hörn rundat 11">
            <a:extLst>
              <a:ext uri="{FF2B5EF4-FFF2-40B4-BE49-F238E27FC236}">
                <a16:creationId xmlns:a16="http://schemas.microsoft.com/office/drawing/2014/main" id="{C20FB8AD-B642-E1E6-AC0D-E4A862F9B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7517606" y="1400174"/>
            <a:ext cx="1422400" cy="2028821"/>
          </a:xfrm>
          <a:prstGeom prst="round1Rect">
            <a:avLst>
              <a:gd name="adj" fmla="val 3832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ktangel: ett hörn rundat 12">
            <a:extLst>
              <a:ext uri="{FF2B5EF4-FFF2-40B4-BE49-F238E27FC236}">
                <a16:creationId xmlns:a16="http://schemas.microsoft.com/office/drawing/2014/main" id="{B1925CA5-50D6-AB2F-5E1C-EACB82AD2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80998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: ett hörn rundat 13">
            <a:extLst>
              <a:ext uri="{FF2B5EF4-FFF2-40B4-BE49-F238E27FC236}">
                <a16:creationId xmlns:a16="http://schemas.microsoft.com/office/drawing/2014/main" id="{369C8F7C-E029-246E-DEFE-A2F38501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8940005" y="3428996"/>
            <a:ext cx="1439467" cy="2036754"/>
          </a:xfrm>
          <a:prstGeom prst="round1Rect">
            <a:avLst>
              <a:gd name="adj" fmla="val 3733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: ett hörn rundat 14">
            <a:extLst>
              <a:ext uri="{FF2B5EF4-FFF2-40B4-BE49-F238E27FC236}">
                <a16:creationId xmlns:a16="http://schemas.microsoft.com/office/drawing/2014/main" id="{6A1C4870-0798-1888-787F-386EAC4D3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 flipV="1">
            <a:off x="10379472" y="5465755"/>
            <a:ext cx="1422003" cy="1020766"/>
          </a:xfrm>
          <a:prstGeom prst="round1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Rektangel: ett hörn rundat 15">
            <a:extLst>
              <a:ext uri="{FF2B5EF4-FFF2-40B4-BE49-F238E27FC236}">
                <a16:creationId xmlns:a16="http://schemas.microsoft.com/office/drawing/2014/main" id="{FD86D645-4C70-7686-CEDC-C3F7E248E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3428997"/>
            <a:ext cx="1422400" cy="1019175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Rektangel: ett hörn rundat 16">
            <a:extLst>
              <a:ext uri="{FF2B5EF4-FFF2-40B4-BE49-F238E27FC236}">
                <a16:creationId xmlns:a16="http://schemas.microsoft.com/office/drawing/2014/main" id="{31C76949-D02B-332F-5982-22F450E45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517606" y="4448166"/>
            <a:ext cx="1422400" cy="2038355"/>
          </a:xfrm>
          <a:prstGeom prst="round1Rect">
            <a:avLst>
              <a:gd name="adj" fmla="val 3996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Rektangel: ett hörn rundat 17">
            <a:extLst>
              <a:ext uri="{FF2B5EF4-FFF2-40B4-BE49-F238E27FC236}">
                <a16:creationId xmlns:a16="http://schemas.microsoft.com/office/drawing/2014/main" id="{322ACDAC-1D12-98AB-7D77-C6C8ED0E6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flipH="1">
            <a:off x="10379475" y="3428999"/>
            <a:ext cx="1422000" cy="2036754"/>
          </a:xfrm>
          <a:prstGeom prst="round1Rect">
            <a:avLst>
              <a:gd name="adj" fmla="val 383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Rektangel: ett hörn rundat 18">
            <a:extLst>
              <a:ext uri="{FF2B5EF4-FFF2-40B4-BE49-F238E27FC236}">
                <a16:creationId xmlns:a16="http://schemas.microsoft.com/office/drawing/2014/main" id="{078779E6-AB64-0FE7-3DCA-5727138EC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V="1">
            <a:off x="8936830" y="5465754"/>
            <a:ext cx="1442643" cy="1020767"/>
          </a:xfrm>
          <a:prstGeom prst="round1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AA71F2BA-C943-46F6-00FD-63E44941990B}"/>
              </a:ext>
            </a:extLst>
          </p:cNvPr>
          <p:cNvSpPr txBox="1"/>
          <p:nvPr userDrawn="1"/>
        </p:nvSpPr>
        <p:spPr>
          <a:xfrm>
            <a:off x="704895" y="6466008"/>
            <a:ext cx="6952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C4CBFC51-E299-C1C6-C259-2EC78776D97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6D598AF4-8416-41AC-A4B8-8AA2F78027DE}" type="datetime1">
              <a:rPr lang="sv-SE" smtClean="0"/>
              <a:t>2026-10-19</a:t>
            </a:fld>
            <a:endParaRPr lang="sv-SE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C0BF19D-A340-277E-EA16-3B72726931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84443" y="6052990"/>
            <a:ext cx="1836244" cy="3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9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artbild enfärg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: ett hörn rundat 8">
            <a:extLst>
              <a:ext uri="{FF2B5EF4-FFF2-40B4-BE49-F238E27FC236}">
                <a16:creationId xmlns:a16="http://schemas.microsoft.com/office/drawing/2014/main" id="{0BA287CB-7B49-DD6D-11A1-EE0677F3E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 flipV="1">
            <a:off x="389466" y="380999"/>
            <a:ext cx="11413068" cy="6099176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D6EA362-9137-45DF-BEE4-B691A8719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92200" y="1752600"/>
            <a:ext cx="10007600" cy="1614312"/>
          </a:xfrm>
        </p:spPr>
        <p:txBody>
          <a:bodyPr anchor="b"/>
          <a:lstStyle>
            <a:lvl1pPr algn="ctr">
              <a:defRPr sz="3500" b="1">
                <a:solidFill>
                  <a:schemeClr val="bg1"/>
                </a:solidFill>
              </a:defRPr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D78077-8D23-4A9C-AD57-B41C92D6A8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1092200" y="3612268"/>
            <a:ext cx="10024267" cy="1500187"/>
          </a:xfrm>
        </p:spPr>
        <p:txBody>
          <a:bodyPr/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för att lägga till underrubrik</a:t>
            </a:r>
          </a:p>
        </p:txBody>
      </p:sp>
      <p:sp>
        <p:nvSpPr>
          <p:cNvPr id="6" name="Platshållare för datum 5">
            <a:extLst>
              <a:ext uri="{FF2B5EF4-FFF2-40B4-BE49-F238E27FC236}">
                <a16:creationId xmlns:a16="http://schemas.microsoft.com/office/drawing/2014/main" id="{DBF08389-4E2E-AF65-054E-C982BA7B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D6DB0435-4108-4DA5-B871-C88C3C6BBB94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6">
            <a:extLst>
              <a:ext uri="{FF2B5EF4-FFF2-40B4-BE49-F238E27FC236}">
                <a16:creationId xmlns:a16="http://schemas.microsoft.com/office/drawing/2014/main" id="{0A5E5F6E-C97D-A4DC-263A-27783D57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60185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AB1CC7E-5066-B2D6-C273-8806FB85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2C27F1BA-72EB-4857-AA42-B15224BA00B9}" type="datetime1">
              <a:rPr lang="sv-SE" smtClean="0"/>
              <a:t>2026-10-19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2B0C1A2-56EF-E81F-53A9-CC77AD52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  <p:sp>
        <p:nvSpPr>
          <p:cNvPr id="6" name="Platshållare för innehåll 13">
            <a:extLst>
              <a:ext uri="{FF2B5EF4-FFF2-40B4-BE49-F238E27FC236}">
                <a16:creationId xmlns:a16="http://schemas.microsoft.com/office/drawing/2014/main" id="{D99CEAC6-8E22-402C-F88F-1F8A70BB28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2200" y="2113722"/>
            <a:ext cx="9666187" cy="331152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9057A4F3-A6E3-F05A-6494-B4402F41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6" y="425716"/>
            <a:ext cx="9666187" cy="104775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Klicka för att lägga till rubrik</a:t>
            </a:r>
          </a:p>
        </p:txBody>
      </p:sp>
    </p:spTree>
    <p:extLst>
      <p:ext uri="{BB962C8B-B14F-4D97-AF65-F5344CB8AC3E}">
        <p14:creationId xmlns:p14="http://schemas.microsoft.com/office/powerpoint/2010/main" val="180042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14" name="Platshållare för innehåll 13">
            <a:extLst>
              <a:ext uri="{FF2B5EF4-FFF2-40B4-BE49-F238E27FC236}">
                <a16:creationId xmlns:a16="http://schemas.microsoft.com/office/drawing/2014/main" id="{A9936CC4-BC31-7B4D-38E0-EC836B72C5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2200" y="2113722"/>
            <a:ext cx="8650817" cy="3311526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168E8F4-CCAB-9D62-770E-18594C9FC9F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2683CE48-9A04-4EAD-ACE6-F96EF5477165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161B6ECD-BDF0-7F15-B856-12CA1DBAC0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  <p:sp>
        <p:nvSpPr>
          <p:cNvPr id="7" name="Rektangel: ett hörn rundat 6">
            <a:extLst>
              <a:ext uri="{FF2B5EF4-FFF2-40B4-BE49-F238E27FC236}">
                <a16:creationId xmlns:a16="http://schemas.microsoft.com/office/drawing/2014/main" id="{73A585E4-AFD9-73B3-6228-5EC2E0056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10371138" y="380999"/>
            <a:ext cx="1433512" cy="1019173"/>
          </a:xfrm>
          <a:prstGeom prst="round1Rect">
            <a:avLst>
              <a:gd name="adj" fmla="val 489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ktangel: ett hörn rundat 8">
            <a:extLst>
              <a:ext uri="{FF2B5EF4-FFF2-40B4-BE49-F238E27FC236}">
                <a16:creationId xmlns:a16="http://schemas.microsoft.com/office/drawing/2014/main" id="{10FBF7AD-460F-553E-5C7C-F85B1FC5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10371138" y="3439316"/>
            <a:ext cx="1433512" cy="3056098"/>
          </a:xfrm>
          <a:prstGeom prst="round1Rect">
            <a:avLst>
              <a:gd name="adj" fmla="val 402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ktangel: ett hörn rundat 3">
            <a:extLst>
              <a:ext uri="{FF2B5EF4-FFF2-40B4-BE49-F238E27FC236}">
                <a16:creationId xmlns:a16="http://schemas.microsoft.com/office/drawing/2014/main" id="{8C775376-46FB-A72F-82DD-C40E6FBDC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0800000" flipH="1">
            <a:off x="10371138" y="1402562"/>
            <a:ext cx="1433512" cy="2036754"/>
          </a:xfrm>
          <a:prstGeom prst="round1Rect">
            <a:avLst>
              <a:gd name="adj" fmla="val 3733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5451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innehåll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7" y="425716"/>
            <a:ext cx="4995333" cy="104775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D5FF0E6C-D325-C355-90B1-214F162C31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2200" y="2113722"/>
            <a:ext cx="5003800" cy="3756990"/>
          </a:xfrm>
          <a:custGeom>
            <a:avLst/>
            <a:gdLst>
              <a:gd name="connsiteX0" fmla="*/ 0 w 4919133"/>
              <a:gd name="connsiteY0" fmla="*/ 0 h 3756990"/>
              <a:gd name="connsiteX1" fmla="*/ 4919133 w 4919133"/>
              <a:gd name="connsiteY1" fmla="*/ 0 h 3756990"/>
              <a:gd name="connsiteX2" fmla="*/ 4919133 w 4919133"/>
              <a:gd name="connsiteY2" fmla="*/ 3756990 h 3756990"/>
              <a:gd name="connsiteX3" fmla="*/ 0 w 4919133"/>
              <a:gd name="connsiteY3" fmla="*/ 3756990 h 375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19133" h="3756990">
                <a:moveTo>
                  <a:pt x="0" y="0"/>
                </a:moveTo>
                <a:lnTo>
                  <a:pt x="4919133" y="0"/>
                </a:lnTo>
                <a:lnTo>
                  <a:pt x="4919133" y="3756990"/>
                </a:lnTo>
                <a:lnTo>
                  <a:pt x="0" y="37569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01696" y="380998"/>
            <a:ext cx="5002954" cy="6071396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25E6907-50BC-FFF4-F6B9-BF2B7373C4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F1EC206-E47A-5E7F-9581-B76ADE31A8F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14303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h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BA959C0A-3CC4-CB74-4993-5594A5630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9466" y="380999"/>
            <a:ext cx="11413068" cy="6099176"/>
          </a:xfrm>
          <a:custGeom>
            <a:avLst/>
            <a:gdLst>
              <a:gd name="connsiteX0" fmla="*/ 0 w 11413068"/>
              <a:gd name="connsiteY0" fmla="*/ 0 h 6099176"/>
              <a:gd name="connsiteX1" fmla="*/ 11413068 w 11413068"/>
              <a:gd name="connsiteY1" fmla="*/ 0 h 6099176"/>
              <a:gd name="connsiteX2" fmla="*/ 11413068 w 11413068"/>
              <a:gd name="connsiteY2" fmla="*/ 27780 h 6099176"/>
              <a:gd name="connsiteX3" fmla="*/ 11413068 w 11413068"/>
              <a:gd name="connsiteY3" fmla="*/ 5082626 h 6099176"/>
              <a:gd name="connsiteX4" fmla="*/ 11413068 w 11413068"/>
              <a:gd name="connsiteY4" fmla="*/ 5087256 h 6099176"/>
              <a:gd name="connsiteX5" fmla="*/ 10401148 w 11413068"/>
              <a:gd name="connsiteY5" fmla="*/ 6099176 h 6099176"/>
              <a:gd name="connsiteX6" fmla="*/ 10396518 w 11413068"/>
              <a:gd name="connsiteY6" fmla="*/ 6099176 h 6099176"/>
              <a:gd name="connsiteX7" fmla="*/ 0 w 11413068"/>
              <a:gd name="connsiteY7" fmla="*/ 6099176 h 6099176"/>
              <a:gd name="connsiteX8" fmla="*/ 0 w 11413068"/>
              <a:gd name="connsiteY8" fmla="*/ 27780 h 609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3068" h="6099176">
                <a:moveTo>
                  <a:pt x="0" y="0"/>
                </a:moveTo>
                <a:lnTo>
                  <a:pt x="11413068" y="0"/>
                </a:lnTo>
                <a:lnTo>
                  <a:pt x="11413068" y="27780"/>
                </a:lnTo>
                <a:lnTo>
                  <a:pt x="11413068" y="5082626"/>
                </a:lnTo>
                <a:lnTo>
                  <a:pt x="11413068" y="5087256"/>
                </a:lnTo>
                <a:cubicBezTo>
                  <a:pt x="11413068" y="5646124"/>
                  <a:pt x="10960016" y="6099176"/>
                  <a:pt x="10401148" y="6099176"/>
                </a:cubicBezTo>
                <a:lnTo>
                  <a:pt x="10396518" y="6099176"/>
                </a:lnTo>
                <a:lnTo>
                  <a:pt x="0" y="6099176"/>
                </a:lnTo>
                <a:lnTo>
                  <a:pt x="0" y="277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100F903-3478-7793-DE93-655C7E1A353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/>
          <a:lstStyle/>
          <a:p>
            <a:fld id="{CF936256-C231-4A85-ABBC-B9D46D6BA76A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CF62D2F-E5FD-F410-EE14-94871D7A62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54823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innehåll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tshållare för bild 38">
            <a:extLst>
              <a:ext uri="{FF2B5EF4-FFF2-40B4-BE49-F238E27FC236}">
                <a16:creationId xmlns:a16="http://schemas.microsoft.com/office/drawing/2014/main" id="{187C5245-8B47-F402-0727-52A9F050279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43034" y="385199"/>
            <a:ext cx="2858400" cy="3045601"/>
          </a:xfrm>
          <a:custGeom>
            <a:avLst/>
            <a:gdLst>
              <a:gd name="connsiteX0" fmla="*/ 0 w 2858400"/>
              <a:gd name="connsiteY0" fmla="*/ 0 h 3045601"/>
              <a:gd name="connsiteX1" fmla="*/ 582742 w 2858400"/>
              <a:gd name="connsiteY1" fmla="*/ 0 h 3045601"/>
              <a:gd name="connsiteX2" fmla="*/ 2275658 w 2858400"/>
              <a:gd name="connsiteY2" fmla="*/ 0 h 3045601"/>
              <a:gd name="connsiteX3" fmla="*/ 2858400 w 2858400"/>
              <a:gd name="connsiteY3" fmla="*/ 0 h 3045601"/>
              <a:gd name="connsiteX4" fmla="*/ 2858400 w 2858400"/>
              <a:gd name="connsiteY4" fmla="*/ 582742 h 3045601"/>
              <a:gd name="connsiteX5" fmla="*/ 2858400 w 2858400"/>
              <a:gd name="connsiteY5" fmla="*/ 2347609 h 3045601"/>
              <a:gd name="connsiteX6" fmla="*/ 2858400 w 2858400"/>
              <a:gd name="connsiteY6" fmla="*/ 2462858 h 3045601"/>
              <a:gd name="connsiteX7" fmla="*/ 2858399 w 2858400"/>
              <a:gd name="connsiteY7" fmla="*/ 2462868 h 3045601"/>
              <a:gd name="connsiteX8" fmla="*/ 2858399 w 2858400"/>
              <a:gd name="connsiteY8" fmla="*/ 3045601 h 3045601"/>
              <a:gd name="connsiteX9" fmla="*/ 1042628 w 2858400"/>
              <a:gd name="connsiteY9" fmla="*/ 3045601 h 3045601"/>
              <a:gd name="connsiteX10" fmla="*/ 1042628 w 2858400"/>
              <a:gd name="connsiteY10" fmla="*/ 3045600 h 3045601"/>
              <a:gd name="connsiteX11" fmla="*/ 582742 w 2858400"/>
              <a:gd name="connsiteY11" fmla="*/ 3045600 h 3045601"/>
              <a:gd name="connsiteX12" fmla="*/ 0 w 2858400"/>
              <a:gd name="connsiteY12" fmla="*/ 2462858 h 3045601"/>
              <a:gd name="connsiteX13" fmla="*/ 0 w 2858400"/>
              <a:gd name="connsiteY13" fmla="*/ 2347609 h 3045601"/>
              <a:gd name="connsiteX14" fmla="*/ 0 w 2858400"/>
              <a:gd name="connsiteY14" fmla="*/ 582742 h 3045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858400" h="3045601">
                <a:moveTo>
                  <a:pt x="0" y="0"/>
                </a:moveTo>
                <a:lnTo>
                  <a:pt x="582742" y="0"/>
                </a:lnTo>
                <a:lnTo>
                  <a:pt x="2275658" y="0"/>
                </a:lnTo>
                <a:lnTo>
                  <a:pt x="2858400" y="0"/>
                </a:lnTo>
                <a:lnTo>
                  <a:pt x="2858400" y="582742"/>
                </a:lnTo>
                <a:lnTo>
                  <a:pt x="2858400" y="2347609"/>
                </a:lnTo>
                <a:lnTo>
                  <a:pt x="2858400" y="2462858"/>
                </a:lnTo>
                <a:lnTo>
                  <a:pt x="2858399" y="2462868"/>
                </a:lnTo>
                <a:lnTo>
                  <a:pt x="2858399" y="3045601"/>
                </a:lnTo>
                <a:lnTo>
                  <a:pt x="1042628" y="3045601"/>
                </a:lnTo>
                <a:lnTo>
                  <a:pt x="1042628" y="3045600"/>
                </a:lnTo>
                <a:lnTo>
                  <a:pt x="582742" y="3045600"/>
                </a:lnTo>
                <a:cubicBezTo>
                  <a:pt x="260902" y="3045600"/>
                  <a:pt x="0" y="2784698"/>
                  <a:pt x="0" y="2462858"/>
                </a:cubicBezTo>
                <a:lnTo>
                  <a:pt x="0" y="2347609"/>
                </a:lnTo>
                <a:lnTo>
                  <a:pt x="0" y="582742"/>
                </a:lnTo>
                <a:close/>
              </a:path>
            </a:pathLst>
          </a:custGeom>
          <a:solidFill>
            <a:srgbClr val="E7E1DF"/>
          </a:solidFill>
        </p:spPr>
        <p:txBody>
          <a:bodyPr wrap="square" lIns="108000" tIns="72000">
            <a:noAutofit/>
          </a:bodyPr>
          <a:lstStyle>
            <a:lvl1pPr marL="0" indent="0">
              <a:buFontTx/>
              <a:buNone/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44" name="Platshållare för bild 43">
            <a:extLst>
              <a:ext uri="{FF2B5EF4-FFF2-40B4-BE49-F238E27FC236}">
                <a16:creationId xmlns:a16="http://schemas.microsoft.com/office/drawing/2014/main" id="{457125D0-9A9D-2671-96B2-99317F8C6E9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43035" y="3429736"/>
            <a:ext cx="2858400" cy="3045600"/>
          </a:xfrm>
          <a:custGeom>
            <a:avLst/>
            <a:gdLst>
              <a:gd name="connsiteX0" fmla="*/ 582742 w 2858400"/>
              <a:gd name="connsiteY0" fmla="*/ 0 h 3045600"/>
              <a:gd name="connsiteX1" fmla="*/ 795936 w 2858400"/>
              <a:gd name="connsiteY1" fmla="*/ 0 h 3045600"/>
              <a:gd name="connsiteX2" fmla="*/ 2275658 w 2858400"/>
              <a:gd name="connsiteY2" fmla="*/ 0 h 3045600"/>
              <a:gd name="connsiteX3" fmla="*/ 2858400 w 2858400"/>
              <a:gd name="connsiteY3" fmla="*/ 0 h 3045600"/>
              <a:gd name="connsiteX4" fmla="*/ 2858400 w 2858400"/>
              <a:gd name="connsiteY4" fmla="*/ 582742 h 3045600"/>
              <a:gd name="connsiteX5" fmla="*/ 2858400 w 2858400"/>
              <a:gd name="connsiteY5" fmla="*/ 1100700 h 3045600"/>
              <a:gd name="connsiteX6" fmla="*/ 2858400 w 2858400"/>
              <a:gd name="connsiteY6" fmla="*/ 1944900 h 3045600"/>
              <a:gd name="connsiteX7" fmla="*/ 2858400 w 2858400"/>
              <a:gd name="connsiteY7" fmla="*/ 2462858 h 3045600"/>
              <a:gd name="connsiteX8" fmla="*/ 2858400 w 2858400"/>
              <a:gd name="connsiteY8" fmla="*/ 3045600 h 3045600"/>
              <a:gd name="connsiteX9" fmla="*/ 2275658 w 2858400"/>
              <a:gd name="connsiteY9" fmla="*/ 3045600 h 3045600"/>
              <a:gd name="connsiteX10" fmla="*/ 582742 w 2858400"/>
              <a:gd name="connsiteY10" fmla="*/ 3045600 h 3045600"/>
              <a:gd name="connsiteX11" fmla="*/ 0 w 2858400"/>
              <a:gd name="connsiteY11" fmla="*/ 3045600 h 3045600"/>
              <a:gd name="connsiteX12" fmla="*/ 0 w 2858400"/>
              <a:gd name="connsiteY12" fmla="*/ 2462858 h 3045600"/>
              <a:gd name="connsiteX13" fmla="*/ 0 w 2858400"/>
              <a:gd name="connsiteY13" fmla="*/ 1100700 h 3045600"/>
              <a:gd name="connsiteX14" fmla="*/ 0 w 2858400"/>
              <a:gd name="connsiteY14" fmla="*/ 582742 h 3045600"/>
              <a:gd name="connsiteX15" fmla="*/ 582742 w 2858400"/>
              <a:gd name="connsiteY15" fmla="*/ 0 h 30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58400" h="3045600">
                <a:moveTo>
                  <a:pt x="582742" y="0"/>
                </a:moveTo>
                <a:lnTo>
                  <a:pt x="795936" y="0"/>
                </a:lnTo>
                <a:lnTo>
                  <a:pt x="2275658" y="0"/>
                </a:lnTo>
                <a:lnTo>
                  <a:pt x="2858400" y="0"/>
                </a:lnTo>
                <a:lnTo>
                  <a:pt x="2858400" y="582742"/>
                </a:lnTo>
                <a:lnTo>
                  <a:pt x="2858400" y="1100700"/>
                </a:lnTo>
                <a:lnTo>
                  <a:pt x="2858400" y="1944900"/>
                </a:lnTo>
                <a:lnTo>
                  <a:pt x="2858400" y="2462858"/>
                </a:lnTo>
                <a:lnTo>
                  <a:pt x="2858400" y="3045600"/>
                </a:lnTo>
                <a:lnTo>
                  <a:pt x="2275658" y="3045600"/>
                </a:lnTo>
                <a:lnTo>
                  <a:pt x="582742" y="3045600"/>
                </a:lnTo>
                <a:lnTo>
                  <a:pt x="0" y="3045600"/>
                </a:lnTo>
                <a:lnTo>
                  <a:pt x="0" y="2462858"/>
                </a:lnTo>
                <a:lnTo>
                  <a:pt x="0" y="1100700"/>
                </a:lnTo>
                <a:lnTo>
                  <a:pt x="0" y="582742"/>
                </a:lnTo>
                <a:cubicBezTo>
                  <a:pt x="0" y="260902"/>
                  <a:pt x="260902" y="0"/>
                  <a:pt x="582742" y="0"/>
                </a:cubicBezTo>
                <a:close/>
              </a:path>
            </a:pathLst>
          </a:custGeom>
          <a:solidFill>
            <a:srgbClr val="B3EBF2"/>
          </a:solidFill>
        </p:spPr>
        <p:txBody>
          <a:bodyPr wrap="square" lIns="108000" tIns="72000">
            <a:noAutofit/>
          </a:bodyPr>
          <a:lstStyle>
            <a:lvl1pPr marL="0" indent="0">
              <a:buFontTx/>
              <a:buNone/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934B6044-FD52-AB8A-45AA-D6BE2185863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E6425D3-C31B-20D6-2106-7DF17C380EA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B5E8B0EA-A9AA-B9D7-4709-3125B8DA2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6620" y="666000"/>
            <a:ext cx="6910557" cy="1047750"/>
          </a:xfrm>
          <a:prstGeom prst="rect">
            <a:avLst/>
          </a:prstGeom>
        </p:spPr>
        <p:txBody>
          <a:bodyPr anchor="t" anchorCtr="0"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072A7930-F0BC-52ED-C83F-1E41DF2D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112" y="2098800"/>
            <a:ext cx="6908065" cy="3922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96530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41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innehåll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6621" y="666000"/>
            <a:ext cx="5760000" cy="1047750"/>
          </a:xfrm>
          <a:prstGeom prst="rect">
            <a:avLst/>
          </a:prstGeom>
        </p:spPr>
        <p:txBody>
          <a:bodyPr anchor="t" anchorCtr="0"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  <p:sp>
        <p:nvSpPr>
          <p:cNvPr id="4" name="Platshållare för text 2">
            <a:extLst>
              <a:ext uri="{FF2B5EF4-FFF2-40B4-BE49-F238E27FC236}">
                <a16:creationId xmlns:a16="http://schemas.microsoft.com/office/drawing/2014/main" id="{E32FB49D-5F22-65E1-116A-E103227C3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112" y="2098800"/>
            <a:ext cx="5757509" cy="3922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7" name="Platshållare för bild 16">
            <a:extLst>
              <a:ext uri="{FF2B5EF4-FFF2-40B4-BE49-F238E27FC236}">
                <a16:creationId xmlns:a16="http://schemas.microsoft.com/office/drawing/2014/main" id="{105C1370-15B7-AC02-005A-AB507144F06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513833" y="385197"/>
            <a:ext cx="4287600" cy="4536000"/>
          </a:xfrm>
          <a:custGeom>
            <a:avLst/>
            <a:gdLst>
              <a:gd name="connsiteX0" fmla="*/ 0 w 4287600"/>
              <a:gd name="connsiteY0" fmla="*/ 0 h 4536000"/>
              <a:gd name="connsiteX1" fmla="*/ 603951 w 4287600"/>
              <a:gd name="connsiteY1" fmla="*/ 0 h 4536000"/>
              <a:gd name="connsiteX2" fmla="*/ 1212476 w 4287600"/>
              <a:gd name="connsiteY2" fmla="*/ 0 h 4536000"/>
              <a:gd name="connsiteX3" fmla="*/ 3683649 w 4287600"/>
              <a:gd name="connsiteY3" fmla="*/ 0 h 4536000"/>
              <a:gd name="connsiteX4" fmla="*/ 4287599 w 4287600"/>
              <a:gd name="connsiteY4" fmla="*/ 0 h 4536000"/>
              <a:gd name="connsiteX5" fmla="*/ 4287600 w 4287600"/>
              <a:gd name="connsiteY5" fmla="*/ 0 h 4536000"/>
              <a:gd name="connsiteX6" fmla="*/ 4287600 w 4287600"/>
              <a:gd name="connsiteY6" fmla="*/ 603951 h 4536000"/>
              <a:gd name="connsiteX7" fmla="*/ 4287600 w 4287600"/>
              <a:gd name="connsiteY7" fmla="*/ 3362714 h 4536000"/>
              <a:gd name="connsiteX8" fmla="*/ 4287600 w 4287600"/>
              <a:gd name="connsiteY8" fmla="*/ 3932049 h 4536000"/>
              <a:gd name="connsiteX9" fmla="*/ 4287599 w 4287600"/>
              <a:gd name="connsiteY9" fmla="*/ 3932059 h 4536000"/>
              <a:gd name="connsiteX10" fmla="*/ 4287599 w 4287600"/>
              <a:gd name="connsiteY10" fmla="*/ 4536000 h 4536000"/>
              <a:gd name="connsiteX11" fmla="*/ 3683649 w 4287600"/>
              <a:gd name="connsiteY11" fmla="*/ 4536000 h 4536000"/>
              <a:gd name="connsiteX12" fmla="*/ 1212476 w 4287600"/>
              <a:gd name="connsiteY12" fmla="*/ 4536000 h 4536000"/>
              <a:gd name="connsiteX13" fmla="*/ 603951 w 4287600"/>
              <a:gd name="connsiteY13" fmla="*/ 4536000 h 4536000"/>
              <a:gd name="connsiteX14" fmla="*/ 0 w 4287600"/>
              <a:gd name="connsiteY14" fmla="*/ 3932049 h 4536000"/>
              <a:gd name="connsiteX15" fmla="*/ 0 w 4287600"/>
              <a:gd name="connsiteY15" fmla="*/ 3362714 h 4536000"/>
              <a:gd name="connsiteX16" fmla="*/ 0 w 4287600"/>
              <a:gd name="connsiteY16" fmla="*/ 603951 h 45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87600" h="4536000">
                <a:moveTo>
                  <a:pt x="0" y="0"/>
                </a:moveTo>
                <a:lnTo>
                  <a:pt x="603951" y="0"/>
                </a:lnTo>
                <a:lnTo>
                  <a:pt x="1212476" y="0"/>
                </a:lnTo>
                <a:lnTo>
                  <a:pt x="3683649" y="0"/>
                </a:lnTo>
                <a:lnTo>
                  <a:pt x="4287599" y="0"/>
                </a:lnTo>
                <a:lnTo>
                  <a:pt x="4287600" y="0"/>
                </a:lnTo>
                <a:lnTo>
                  <a:pt x="4287600" y="603951"/>
                </a:lnTo>
                <a:lnTo>
                  <a:pt x="4287600" y="3362714"/>
                </a:lnTo>
                <a:lnTo>
                  <a:pt x="4287600" y="3932049"/>
                </a:lnTo>
                <a:lnTo>
                  <a:pt x="4287599" y="3932059"/>
                </a:lnTo>
                <a:lnTo>
                  <a:pt x="4287599" y="4536000"/>
                </a:lnTo>
                <a:lnTo>
                  <a:pt x="3683649" y="4536000"/>
                </a:lnTo>
                <a:lnTo>
                  <a:pt x="1212476" y="4536000"/>
                </a:lnTo>
                <a:lnTo>
                  <a:pt x="603951" y="4536000"/>
                </a:lnTo>
                <a:cubicBezTo>
                  <a:pt x="270398" y="4536000"/>
                  <a:pt x="0" y="4265602"/>
                  <a:pt x="0" y="3932049"/>
                </a:cubicBezTo>
                <a:lnTo>
                  <a:pt x="0" y="3362714"/>
                </a:lnTo>
                <a:lnTo>
                  <a:pt x="0" y="603951"/>
                </a:lnTo>
                <a:close/>
              </a:path>
            </a:pathLst>
          </a:custGeom>
          <a:solidFill>
            <a:srgbClr val="E7E1DF"/>
          </a:solidFill>
        </p:spPr>
        <p:txBody>
          <a:bodyPr wrap="square" lIns="144000" tIns="108000">
            <a:noAutofit/>
          </a:bodyPr>
          <a:lstStyle>
            <a:lvl1pPr marL="0" indent="0">
              <a:buFontTx/>
              <a:buNone/>
              <a:defRPr sz="20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28" name="Frihandsfigur 1">
            <a:extLst>
              <a:ext uri="{FF2B5EF4-FFF2-40B4-BE49-F238E27FC236}">
                <a16:creationId xmlns:a16="http://schemas.microsoft.com/office/drawing/2014/main" id="{16CBC3DE-3F59-07F4-0A63-FD475D0A5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13832" y="4921196"/>
            <a:ext cx="4287600" cy="1555200"/>
          </a:xfrm>
          <a:custGeom>
            <a:avLst/>
            <a:gdLst>
              <a:gd name="connsiteX0" fmla="*/ 567181 w 4287600"/>
              <a:gd name="connsiteY0" fmla="*/ 0 h 1555200"/>
              <a:gd name="connsiteX1" fmla="*/ 1713733 w 4287600"/>
              <a:gd name="connsiteY1" fmla="*/ 0 h 1555200"/>
              <a:gd name="connsiteX2" fmla="*/ 3720419 w 4287600"/>
              <a:gd name="connsiteY2" fmla="*/ 0 h 1555200"/>
              <a:gd name="connsiteX3" fmla="*/ 4287600 w 4287600"/>
              <a:gd name="connsiteY3" fmla="*/ 0 h 1555200"/>
              <a:gd name="connsiteX4" fmla="*/ 4287600 w 4287600"/>
              <a:gd name="connsiteY4" fmla="*/ 567181 h 1555200"/>
              <a:gd name="connsiteX5" fmla="*/ 4287600 w 4287600"/>
              <a:gd name="connsiteY5" fmla="*/ 988019 h 1555200"/>
              <a:gd name="connsiteX6" fmla="*/ 4287600 w 4287600"/>
              <a:gd name="connsiteY6" fmla="*/ 1555200 h 1555200"/>
              <a:gd name="connsiteX7" fmla="*/ 3720419 w 4287600"/>
              <a:gd name="connsiteY7" fmla="*/ 1555200 h 1555200"/>
              <a:gd name="connsiteX8" fmla="*/ 1713733 w 4287600"/>
              <a:gd name="connsiteY8" fmla="*/ 1555200 h 1555200"/>
              <a:gd name="connsiteX9" fmla="*/ 567181 w 4287600"/>
              <a:gd name="connsiteY9" fmla="*/ 1555200 h 1555200"/>
              <a:gd name="connsiteX10" fmla="*/ 567171 w 4287600"/>
              <a:gd name="connsiteY10" fmla="*/ 1555199 h 1555200"/>
              <a:gd name="connsiteX11" fmla="*/ 0 w 4287600"/>
              <a:gd name="connsiteY11" fmla="*/ 1555199 h 1555200"/>
              <a:gd name="connsiteX12" fmla="*/ 0 w 4287600"/>
              <a:gd name="connsiteY12" fmla="*/ 988019 h 1555200"/>
              <a:gd name="connsiteX13" fmla="*/ 0 w 4287600"/>
              <a:gd name="connsiteY13" fmla="*/ 711958 h 1555200"/>
              <a:gd name="connsiteX14" fmla="*/ 0 w 4287600"/>
              <a:gd name="connsiteY14" fmla="*/ 567181 h 1555200"/>
              <a:gd name="connsiteX15" fmla="*/ 567181 w 4287600"/>
              <a:gd name="connsiteY15" fmla="*/ 0 h 155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87600" h="1555200">
                <a:moveTo>
                  <a:pt x="567181" y="0"/>
                </a:moveTo>
                <a:lnTo>
                  <a:pt x="1713733" y="0"/>
                </a:lnTo>
                <a:lnTo>
                  <a:pt x="3720419" y="0"/>
                </a:lnTo>
                <a:lnTo>
                  <a:pt x="4287600" y="0"/>
                </a:lnTo>
                <a:lnTo>
                  <a:pt x="4287600" y="567181"/>
                </a:lnTo>
                <a:lnTo>
                  <a:pt x="4287600" y="988019"/>
                </a:lnTo>
                <a:lnTo>
                  <a:pt x="4287600" y="1555200"/>
                </a:lnTo>
                <a:lnTo>
                  <a:pt x="3720419" y="1555200"/>
                </a:lnTo>
                <a:lnTo>
                  <a:pt x="1713733" y="1555200"/>
                </a:lnTo>
                <a:lnTo>
                  <a:pt x="567181" y="1555200"/>
                </a:lnTo>
                <a:lnTo>
                  <a:pt x="567171" y="1555199"/>
                </a:lnTo>
                <a:lnTo>
                  <a:pt x="0" y="1555199"/>
                </a:lnTo>
                <a:lnTo>
                  <a:pt x="0" y="988019"/>
                </a:lnTo>
                <a:lnTo>
                  <a:pt x="0" y="711958"/>
                </a:lnTo>
                <a:lnTo>
                  <a:pt x="0" y="567181"/>
                </a:lnTo>
                <a:cubicBezTo>
                  <a:pt x="0" y="253936"/>
                  <a:pt x="253936" y="0"/>
                  <a:pt x="5671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sp>
        <p:nvSpPr>
          <p:cNvPr id="5" name="Platshållare för datum 1">
            <a:extLst>
              <a:ext uri="{FF2B5EF4-FFF2-40B4-BE49-F238E27FC236}">
                <a16:creationId xmlns:a16="http://schemas.microsoft.com/office/drawing/2014/main" id="{914DF1B5-8F8B-B8D4-277C-2E7BD70627A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2CDFC150-EE97-635F-6025-4E1489A02F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2723212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41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bild och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78EC773-34E8-0A64-E6D1-94AECF03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466" y="385758"/>
            <a:ext cx="6409015" cy="609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2673041"/>
            <a:ext cx="5279351" cy="13152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ts val="4040"/>
              </a:lnSpc>
              <a:defRPr sz="3300" b="0">
                <a:solidFill>
                  <a:schemeClr val="bg1"/>
                </a:solidFill>
              </a:defRPr>
            </a:lvl1pPr>
          </a:lstStyle>
          <a:p>
            <a:r>
              <a:rPr lang="sv-SE"/>
              <a:t>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481" y="385758"/>
            <a:ext cx="5004000" cy="6091200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>
            <a:noAutofit/>
          </a:bodyPr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4" name="Platshållare för datum 1">
            <a:extLst>
              <a:ext uri="{FF2B5EF4-FFF2-40B4-BE49-F238E27FC236}">
                <a16:creationId xmlns:a16="http://schemas.microsoft.com/office/drawing/2014/main" id="{13B19176-10C2-BD74-68F4-2CA3D176B16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709E6D53-4D33-66BF-B308-EC5AAF0124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854537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bild och ljusbrun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78EC773-34E8-0A64-E6D1-94AECF03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466" y="385758"/>
            <a:ext cx="6409015" cy="6091200"/>
          </a:xfrm>
          <a:prstGeom prst="rect">
            <a:avLst/>
          </a:prstGeom>
          <a:solidFill>
            <a:srgbClr val="E7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2673041"/>
            <a:ext cx="5279351" cy="13152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ts val="4040"/>
              </a:lnSpc>
              <a:defRPr sz="3300" b="0">
                <a:solidFill>
                  <a:schemeClr val="tx1"/>
                </a:solidFill>
              </a:defRPr>
            </a:lvl1pPr>
          </a:lstStyle>
          <a:p>
            <a:r>
              <a:rPr lang="sv-SE"/>
              <a:t>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481" y="385758"/>
            <a:ext cx="5004000" cy="6091200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>
            <a:noAutofit/>
          </a:bodyPr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datum 1">
            <a:extLst>
              <a:ext uri="{FF2B5EF4-FFF2-40B4-BE49-F238E27FC236}">
                <a16:creationId xmlns:a16="http://schemas.microsoft.com/office/drawing/2014/main" id="{F15C3C16-BCD2-5018-89D7-AD96A69FD66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10F8E6DE-0322-66B1-2658-4A08C6465E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41667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bild och ljus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D78EC773-34E8-0A64-E6D1-94AECF03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466" y="385758"/>
            <a:ext cx="6409015" cy="6091200"/>
          </a:xfrm>
          <a:prstGeom prst="rect">
            <a:avLst/>
          </a:prstGeom>
          <a:solidFill>
            <a:srgbClr val="B3EB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877B3524-D6C4-8016-A0B9-76DB7A408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2673041"/>
            <a:ext cx="5279351" cy="131527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ts val="4040"/>
              </a:lnSpc>
              <a:defRPr sz="3300" b="0">
                <a:solidFill>
                  <a:schemeClr val="tx1"/>
                </a:solidFill>
              </a:defRPr>
            </a:lvl1pPr>
          </a:lstStyle>
          <a:p>
            <a:r>
              <a:rPr lang="sv-SE"/>
              <a:t>Rubrik</a:t>
            </a:r>
          </a:p>
        </p:txBody>
      </p:sp>
      <p:sp>
        <p:nvSpPr>
          <p:cNvPr id="12" name="Platshållare för bild 11">
            <a:extLst>
              <a:ext uri="{FF2B5EF4-FFF2-40B4-BE49-F238E27FC236}">
                <a16:creationId xmlns:a16="http://schemas.microsoft.com/office/drawing/2014/main" id="{1703F1CD-4B7B-907E-729A-4E87F6ADB8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8481" y="385758"/>
            <a:ext cx="5004000" cy="6091200"/>
          </a:xfrm>
          <a:custGeom>
            <a:avLst/>
            <a:gdLst>
              <a:gd name="connsiteX0" fmla="*/ 0 w 5002954"/>
              <a:gd name="connsiteY0" fmla="*/ 0 h 6071396"/>
              <a:gd name="connsiteX1" fmla="*/ 5002954 w 5002954"/>
              <a:gd name="connsiteY1" fmla="*/ 0 h 6071396"/>
              <a:gd name="connsiteX2" fmla="*/ 5002954 w 5002954"/>
              <a:gd name="connsiteY2" fmla="*/ 5059476 h 6071396"/>
              <a:gd name="connsiteX3" fmla="*/ 3991034 w 5002954"/>
              <a:gd name="connsiteY3" fmla="*/ 6071396 h 6071396"/>
              <a:gd name="connsiteX4" fmla="*/ 0 w 5002954"/>
              <a:gd name="connsiteY4" fmla="*/ 6071396 h 607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2954" h="6071396">
                <a:moveTo>
                  <a:pt x="0" y="0"/>
                </a:moveTo>
                <a:lnTo>
                  <a:pt x="5002954" y="0"/>
                </a:lnTo>
                <a:lnTo>
                  <a:pt x="5002954" y="5059476"/>
                </a:lnTo>
                <a:cubicBezTo>
                  <a:pt x="5002954" y="5618344"/>
                  <a:pt x="4549902" y="6071396"/>
                  <a:pt x="3991034" y="6071396"/>
                </a:cubicBezTo>
                <a:lnTo>
                  <a:pt x="0" y="607139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16000" tIns="144000">
            <a:noAutofit/>
          </a:bodyPr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Verdana" panose="020B0604030504040204" pitchFamily="34" charset="0"/>
              <a:buNone/>
              <a:tabLst/>
              <a:defRPr/>
            </a:pPr>
            <a:r>
              <a:rPr lang="sv-SE"/>
              <a:t>Klicka på ikonen för att lägga till en bild</a:t>
            </a:r>
          </a:p>
        </p:txBody>
      </p:sp>
      <p:sp>
        <p:nvSpPr>
          <p:cNvPr id="6" name="Platshållare för datum 1">
            <a:extLst>
              <a:ext uri="{FF2B5EF4-FFF2-40B4-BE49-F238E27FC236}">
                <a16:creationId xmlns:a16="http://schemas.microsoft.com/office/drawing/2014/main" id="{055FE0CF-B1CD-D303-4FD5-585F6F698A3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7" name="Platshållare för sidfot 3">
            <a:extLst>
              <a:ext uri="{FF2B5EF4-FFF2-40B4-BE49-F238E27FC236}">
                <a16:creationId xmlns:a16="http://schemas.microsoft.com/office/drawing/2014/main" id="{4979D124-FAB6-63D5-D003-65CC7480A7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130645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innehåll och ljusbrun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ihandsfigur 8">
            <a:extLst>
              <a:ext uri="{FF2B5EF4-FFF2-40B4-BE49-F238E27FC236}">
                <a16:creationId xmlns:a16="http://schemas.microsoft.com/office/drawing/2014/main" id="{10365128-BE3A-9023-B089-D90E504B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>
            <a:off x="389262" y="380997"/>
            <a:ext cx="11412000" cy="6099856"/>
          </a:xfrm>
          <a:custGeom>
            <a:avLst/>
            <a:gdLst>
              <a:gd name="connsiteX0" fmla="*/ 0 w 11412000"/>
              <a:gd name="connsiteY0" fmla="*/ 0 h 6099856"/>
              <a:gd name="connsiteX1" fmla="*/ 11412000 w 11412000"/>
              <a:gd name="connsiteY1" fmla="*/ 0 h 6099856"/>
              <a:gd name="connsiteX2" fmla="*/ 11412000 w 11412000"/>
              <a:gd name="connsiteY2" fmla="*/ 1400466 h 6099856"/>
              <a:gd name="connsiteX3" fmla="*/ 11412000 w 11412000"/>
              <a:gd name="connsiteY3" fmla="*/ 3026481 h 6099856"/>
              <a:gd name="connsiteX4" fmla="*/ 11412000 w 11412000"/>
              <a:gd name="connsiteY4" fmla="*/ 3606802 h 6099856"/>
              <a:gd name="connsiteX5" fmla="*/ 11412000 w 11412000"/>
              <a:gd name="connsiteY5" fmla="*/ 5065943 h 6099856"/>
              <a:gd name="connsiteX6" fmla="*/ 10378087 w 11412000"/>
              <a:gd name="connsiteY6" fmla="*/ 6099856 h 6099856"/>
              <a:gd name="connsiteX7" fmla="*/ 5706738 w 11412000"/>
              <a:gd name="connsiteY7" fmla="*/ 6099856 h 6099856"/>
              <a:gd name="connsiteX8" fmla="*/ 5004000 w 11412000"/>
              <a:gd name="connsiteY8" fmla="*/ 6099856 h 6099856"/>
              <a:gd name="connsiteX9" fmla="*/ 257 w 11412000"/>
              <a:gd name="connsiteY9" fmla="*/ 6099856 h 6099856"/>
              <a:gd name="connsiteX10" fmla="*/ 257 w 11412000"/>
              <a:gd name="connsiteY10" fmla="*/ 3026481 h 6099856"/>
              <a:gd name="connsiteX11" fmla="*/ 0 w 11412000"/>
              <a:gd name="connsiteY11" fmla="*/ 3026481 h 609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2000" h="6099856">
                <a:moveTo>
                  <a:pt x="0" y="0"/>
                </a:moveTo>
                <a:lnTo>
                  <a:pt x="11412000" y="0"/>
                </a:lnTo>
                <a:lnTo>
                  <a:pt x="11412000" y="1400466"/>
                </a:lnTo>
                <a:lnTo>
                  <a:pt x="11412000" y="3026481"/>
                </a:lnTo>
                <a:lnTo>
                  <a:pt x="11412000" y="3606802"/>
                </a:lnTo>
                <a:lnTo>
                  <a:pt x="11412000" y="5065943"/>
                </a:lnTo>
                <a:cubicBezTo>
                  <a:pt x="11412000" y="5636957"/>
                  <a:pt x="10949101" y="6099856"/>
                  <a:pt x="10378087" y="6099856"/>
                </a:cubicBezTo>
                <a:lnTo>
                  <a:pt x="5706738" y="6099856"/>
                </a:lnTo>
                <a:lnTo>
                  <a:pt x="5004000" y="6099856"/>
                </a:lnTo>
                <a:lnTo>
                  <a:pt x="257" y="6099856"/>
                </a:lnTo>
                <a:lnTo>
                  <a:pt x="257" y="3026481"/>
                </a:lnTo>
                <a:lnTo>
                  <a:pt x="0" y="3026481"/>
                </a:lnTo>
                <a:close/>
              </a:path>
            </a:pathLst>
          </a:custGeom>
          <a:solidFill>
            <a:srgbClr val="E7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3055DF0-CE61-81D0-5CCD-066F717630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921600"/>
            <a:ext cx="10046304" cy="1047750"/>
          </a:xfrm>
          <a:prstGeom prst="rect">
            <a:avLst/>
          </a:prstGeom>
        </p:spPr>
        <p:txBody>
          <a:bodyPr anchor="t" anchorCtr="0"/>
          <a:lstStyle>
            <a:lvl1pPr>
              <a:defRPr sz="3300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8" name="Platshållare för innehåll 13">
            <a:extLst>
              <a:ext uri="{FF2B5EF4-FFF2-40B4-BE49-F238E27FC236}">
                <a16:creationId xmlns:a16="http://schemas.microsoft.com/office/drawing/2014/main" id="{2BD858AF-B70F-D693-F33B-D59915C4884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96246" y="2098800"/>
            <a:ext cx="10047600" cy="3311999"/>
          </a:xfrm>
        </p:spPr>
        <p:txBody>
          <a:bodyPr/>
          <a:lstStyle/>
          <a:p>
            <a:pPr lvl="0"/>
            <a:r>
              <a:rPr lang="sv-SE" noProof="0"/>
              <a:t>Skriv text här</a:t>
            </a:r>
          </a:p>
          <a:p>
            <a:pPr lvl="1"/>
            <a:r>
              <a:rPr lang="sv-SE" noProof="0"/>
              <a:t>Skriv text här</a:t>
            </a:r>
          </a:p>
          <a:p>
            <a:pPr lvl="2"/>
            <a:r>
              <a:rPr lang="sv-SE" noProof="0"/>
              <a:t>Skriv text här</a:t>
            </a: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663B0DA8-D3E9-66BB-CD23-C005622D06B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3">
            <a:extLst>
              <a:ext uri="{FF2B5EF4-FFF2-40B4-BE49-F238E27FC236}">
                <a16:creationId xmlns:a16="http://schemas.microsoft.com/office/drawing/2014/main" id="{AF1EB98A-644B-CACB-D0B3-1A32BEFD19E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257010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57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innehåll och ljus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ihandsfigur 7">
            <a:extLst>
              <a:ext uri="{FF2B5EF4-FFF2-40B4-BE49-F238E27FC236}">
                <a16:creationId xmlns:a16="http://schemas.microsoft.com/office/drawing/2014/main" id="{8E45FC93-1C41-63EC-574B-533DF6E79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>
            <a:off x="389262" y="380997"/>
            <a:ext cx="11412000" cy="6099856"/>
          </a:xfrm>
          <a:custGeom>
            <a:avLst/>
            <a:gdLst>
              <a:gd name="connsiteX0" fmla="*/ 0 w 11412000"/>
              <a:gd name="connsiteY0" fmla="*/ 0 h 6099856"/>
              <a:gd name="connsiteX1" fmla="*/ 11412000 w 11412000"/>
              <a:gd name="connsiteY1" fmla="*/ 0 h 6099856"/>
              <a:gd name="connsiteX2" fmla="*/ 11412000 w 11412000"/>
              <a:gd name="connsiteY2" fmla="*/ 1400466 h 6099856"/>
              <a:gd name="connsiteX3" fmla="*/ 11412000 w 11412000"/>
              <a:gd name="connsiteY3" fmla="*/ 3026481 h 6099856"/>
              <a:gd name="connsiteX4" fmla="*/ 11412000 w 11412000"/>
              <a:gd name="connsiteY4" fmla="*/ 3606802 h 6099856"/>
              <a:gd name="connsiteX5" fmla="*/ 11412000 w 11412000"/>
              <a:gd name="connsiteY5" fmla="*/ 5065943 h 6099856"/>
              <a:gd name="connsiteX6" fmla="*/ 10378087 w 11412000"/>
              <a:gd name="connsiteY6" fmla="*/ 6099856 h 6099856"/>
              <a:gd name="connsiteX7" fmla="*/ 5706738 w 11412000"/>
              <a:gd name="connsiteY7" fmla="*/ 6099856 h 6099856"/>
              <a:gd name="connsiteX8" fmla="*/ 5004000 w 11412000"/>
              <a:gd name="connsiteY8" fmla="*/ 6099856 h 6099856"/>
              <a:gd name="connsiteX9" fmla="*/ 257 w 11412000"/>
              <a:gd name="connsiteY9" fmla="*/ 6099856 h 6099856"/>
              <a:gd name="connsiteX10" fmla="*/ 257 w 11412000"/>
              <a:gd name="connsiteY10" fmla="*/ 3026481 h 6099856"/>
              <a:gd name="connsiteX11" fmla="*/ 0 w 11412000"/>
              <a:gd name="connsiteY11" fmla="*/ 3026481 h 6099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412000" h="6099856">
                <a:moveTo>
                  <a:pt x="0" y="0"/>
                </a:moveTo>
                <a:lnTo>
                  <a:pt x="11412000" y="0"/>
                </a:lnTo>
                <a:lnTo>
                  <a:pt x="11412000" y="1400466"/>
                </a:lnTo>
                <a:lnTo>
                  <a:pt x="11412000" y="3026481"/>
                </a:lnTo>
                <a:lnTo>
                  <a:pt x="11412000" y="3606802"/>
                </a:lnTo>
                <a:lnTo>
                  <a:pt x="11412000" y="5065943"/>
                </a:lnTo>
                <a:cubicBezTo>
                  <a:pt x="11412000" y="5636957"/>
                  <a:pt x="10949101" y="6099856"/>
                  <a:pt x="10378087" y="6099856"/>
                </a:cubicBezTo>
                <a:lnTo>
                  <a:pt x="5706738" y="6099856"/>
                </a:lnTo>
                <a:lnTo>
                  <a:pt x="5004000" y="6099856"/>
                </a:lnTo>
                <a:lnTo>
                  <a:pt x="257" y="6099856"/>
                </a:lnTo>
                <a:lnTo>
                  <a:pt x="257" y="3026481"/>
                </a:lnTo>
                <a:lnTo>
                  <a:pt x="0" y="3026481"/>
                </a:lnTo>
                <a:close/>
              </a:path>
            </a:pathLst>
          </a:custGeom>
          <a:solidFill>
            <a:srgbClr val="B3EB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3055DF0-CE61-81D0-5CCD-066F717630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554" y="921600"/>
            <a:ext cx="10046304" cy="1047750"/>
          </a:xfrm>
          <a:prstGeom prst="rect">
            <a:avLst/>
          </a:prstGeom>
        </p:spPr>
        <p:txBody>
          <a:bodyPr anchor="t" anchorCtr="0"/>
          <a:lstStyle>
            <a:lvl1pPr>
              <a:defRPr sz="3300"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7" name="Platshållare för innehåll 13">
            <a:extLst>
              <a:ext uri="{FF2B5EF4-FFF2-40B4-BE49-F238E27FC236}">
                <a16:creationId xmlns:a16="http://schemas.microsoft.com/office/drawing/2014/main" id="{94CB0FC2-1D05-5EE5-C07F-D00BCBF5FC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96246" y="2098800"/>
            <a:ext cx="10047600" cy="3311999"/>
          </a:xfrm>
        </p:spPr>
        <p:txBody>
          <a:bodyPr/>
          <a:lstStyle/>
          <a:p>
            <a:pPr lvl="0"/>
            <a:r>
              <a:rPr lang="sv-SE" noProof="0"/>
              <a:t>Skriv text här</a:t>
            </a:r>
          </a:p>
          <a:p>
            <a:pPr lvl="1"/>
            <a:r>
              <a:rPr lang="sv-SE" noProof="0"/>
              <a:t>Skriv text här</a:t>
            </a:r>
          </a:p>
          <a:p>
            <a:pPr lvl="2"/>
            <a:r>
              <a:rPr lang="sv-SE" noProof="0"/>
              <a:t>Skriv text här</a:t>
            </a: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647EF076-477A-71A7-7111-6D6672B5D0E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6" name="Platshållare för sidfot 3">
            <a:extLst>
              <a:ext uri="{FF2B5EF4-FFF2-40B4-BE49-F238E27FC236}">
                <a16:creationId xmlns:a16="http://schemas.microsoft.com/office/drawing/2014/main" id="{F3375E35-0D36-C479-2BE7-9F02ACE433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3820208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1">
          <p15:clr>
            <a:srgbClr val="FBAE40"/>
          </p15:clr>
        </p15:guide>
        <p15:guide id="2" pos="688">
          <p15:clr>
            <a:srgbClr val="FBAE40"/>
          </p15:clr>
        </p15:guide>
        <p15:guide id="3" orient="horz" pos="5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ubrik och innehåll - maximerad y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0000"/>
            <a:ext cx="11473200" cy="1047600"/>
          </a:xfrm>
          <a:prstGeom prst="rect">
            <a:avLst/>
          </a:prstGeom>
        </p:spPr>
        <p:txBody>
          <a:bodyPr anchor="b" anchorCtr="0"/>
          <a:lstStyle>
            <a:lvl1pPr>
              <a:defRPr/>
            </a:lvl1pPr>
          </a:lstStyle>
          <a:p>
            <a:r>
              <a:rPr lang="sv-SE"/>
              <a:t>Klicka för att lägga till rubrik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375C1A3E-A802-BA54-3D5B-74B018A66CE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9998" y="1767599"/>
            <a:ext cx="11473200" cy="4352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3" name="Platshållare för datum 1">
            <a:extLst>
              <a:ext uri="{FF2B5EF4-FFF2-40B4-BE49-F238E27FC236}">
                <a16:creationId xmlns:a16="http://schemas.microsoft.com/office/drawing/2014/main" id="{F73691E9-3BA3-B395-9DEB-766A79AEC1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901363" y="136525"/>
            <a:ext cx="908050" cy="141687"/>
          </a:xfrm>
        </p:spPr>
        <p:txBody>
          <a:bodyPr/>
          <a:lstStyle/>
          <a:p>
            <a:fld id="{4B776B95-268A-4CFA-BBA5-9ACA910E4F80}" type="datetime1">
              <a:rPr lang="sv-SE" smtClean="0"/>
              <a:t>2026-10-19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96858A4-86FA-101F-4A06-30111AC233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9466" y="136525"/>
            <a:ext cx="4125383" cy="141687"/>
          </a:xfrm>
        </p:spPr>
        <p:txBody>
          <a:bodyPr/>
          <a:lstStyle/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898732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vart logo/Vit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F028FC9A-549E-C173-F6EE-DD2DADAFA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524332" y="2897528"/>
            <a:ext cx="5152320" cy="10629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B23554D-627D-914B-C979-86E23DE8C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7" y="-1301484"/>
            <a:ext cx="8642350" cy="1047750"/>
          </a:xfrm>
        </p:spPr>
        <p:txBody>
          <a:bodyPr/>
          <a:lstStyle>
            <a:lvl1pPr>
              <a:defRPr/>
            </a:lvl1pPr>
          </a:lstStyle>
          <a:p>
            <a:r>
              <a:rPr lang="sv-SE" noProof="0"/>
              <a:t>Skriv en rubrik för tillgänglighetsanpassning</a:t>
            </a:r>
          </a:p>
        </p:txBody>
      </p:sp>
    </p:spTree>
    <p:extLst>
      <p:ext uri="{BB962C8B-B14F-4D97-AF65-F5344CB8AC3E}">
        <p14:creationId xmlns:p14="http://schemas.microsoft.com/office/powerpoint/2010/main" val="492405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t logo/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: ett hörn rundat 4">
            <a:extLst>
              <a:ext uri="{FF2B5EF4-FFF2-40B4-BE49-F238E27FC236}">
                <a16:creationId xmlns:a16="http://schemas.microsoft.com/office/drawing/2014/main" id="{0F7839DA-DC58-9FD4-5DB7-077F9CCA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black">
          <a:xfrm flipV="1">
            <a:off x="389466" y="380999"/>
            <a:ext cx="11413068" cy="6099176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028FC9A-549E-C173-F6EE-DD2DADAFA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519840" y="2897528"/>
            <a:ext cx="5152320" cy="10629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71987B4-A1C4-C717-553B-70AFEBCBFD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0667" y="-1410109"/>
            <a:ext cx="8642350" cy="1047750"/>
          </a:xfrm>
        </p:spPr>
        <p:txBody>
          <a:bodyPr/>
          <a:lstStyle/>
          <a:p>
            <a:r>
              <a:rPr lang="sv-SE" noProof="0"/>
              <a:t>Skriv en rubrik för tillgänglighetsanpassning</a:t>
            </a:r>
          </a:p>
        </p:txBody>
      </p:sp>
    </p:spTree>
    <p:extLst>
      <p:ext uri="{BB962C8B-B14F-4D97-AF65-F5344CB8AC3E}">
        <p14:creationId xmlns:p14="http://schemas.microsoft.com/office/powerpoint/2010/main" val="42527265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52683E2-9A31-4B47-ACFE-390B6E0A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67" y="425716"/>
            <a:ext cx="8642350" cy="10477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sv-SE"/>
              <a:t>Klicka för att lägga till rubrik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C0710F-3CB3-4F01-9977-A1A69928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1250" y="2044700"/>
            <a:ext cx="8642350" cy="3311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Skriv text här</a:t>
            </a:r>
          </a:p>
          <a:p>
            <a:pPr lvl="1"/>
            <a:r>
              <a:rPr lang="sv-SE"/>
              <a:t>Skriv text här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9" name="Platshållare för datum 8">
            <a:extLst>
              <a:ext uri="{FF2B5EF4-FFF2-40B4-BE49-F238E27FC236}">
                <a16:creationId xmlns:a16="http://schemas.microsoft.com/office/drawing/2014/main" id="{94798039-E5C4-7804-7509-501B9DE7B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01363" y="136525"/>
            <a:ext cx="908050" cy="141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3DE84F-2189-4AE4-8038-290BEACE7459}" type="datetime1">
              <a:rPr lang="sv-SE" smtClean="0"/>
              <a:t>2026-10-19</a:t>
            </a:fld>
            <a:endParaRPr lang="sv-SE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2F44A19D-54A3-346E-3AA1-C94C6D94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9466" y="136525"/>
            <a:ext cx="4125383" cy="141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sv-SE"/>
              <a:t>Sahlgrenska Universitetssjukhuset</a:t>
            </a:r>
          </a:p>
        </p:txBody>
      </p:sp>
    </p:spTree>
    <p:extLst>
      <p:ext uri="{BB962C8B-B14F-4D97-AF65-F5344CB8AC3E}">
        <p14:creationId xmlns:p14="http://schemas.microsoft.com/office/powerpoint/2010/main" val="14913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1" r:id="rId3"/>
    <p:sldLayoutId id="2147483655" r:id="rId4"/>
    <p:sldLayoutId id="2147483650" r:id="rId5"/>
    <p:sldLayoutId id="2147483652" r:id="rId6"/>
    <p:sldLayoutId id="2147483661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73" r:id="rId14"/>
    <p:sldLayoutId id="2147483663" r:id="rId15"/>
    <p:sldLayoutId id="2147483659" r:id="rId16"/>
    <p:sldLayoutId id="2147483660" r:id="rId17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30000"/>
        </a:lnSpc>
        <a:spcBef>
          <a:spcPts val="1000"/>
        </a:spcBef>
        <a:buFont typeface="Verdana" panose="020B060403050404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667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94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2667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tabLst>
          <a:tab pos="812800" algn="l"/>
        </a:tabLst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6200" indent="-266700" algn="l" defTabSz="914400" rtl="0" eaLnBrk="1" latinLnBrk="0" hangingPunct="1">
        <a:lnSpc>
          <a:spcPct val="130000"/>
        </a:lnSpc>
        <a:spcBef>
          <a:spcPts val="500"/>
        </a:spcBef>
        <a:buFont typeface="Verdana" panose="020B060403050404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8" orient="horz" pos="164" userDrawn="1">
          <p15:clr>
            <a:srgbClr val="F26B43"/>
          </p15:clr>
        </p15:guide>
        <p15:guide id="13" orient="horz" pos="3793" userDrawn="1">
          <p15:clr>
            <a:srgbClr val="F26B43"/>
          </p15:clr>
        </p15:guide>
        <p15:guide id="14" pos="743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jpg"/><Relationship Id="rId3" Type="http://schemas.openxmlformats.org/officeDocument/2006/relationships/hyperlink" Target="https://www.ted.com/talks/helen_m_farrell_the_truth_about_electroconvulsive_therapy_ect" TargetMode="Externa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jpg"/><Relationship Id="rId3" Type="http://schemas.openxmlformats.org/officeDocument/2006/relationships/hyperlink" Target="https://www.youtube.com/watch?v=eP83fh2FswU" TargetMode="External"/><Relationship Id="rId4" Type="http://schemas.openxmlformats.org/officeDocument/2006/relationships/image" Target="../media/image15.jpg"/><Relationship Id="rId5" Type="http://schemas.openxmlformats.org/officeDocument/2006/relationships/hyperlink" Target="https://www.youtube.com/watch?v=9L2-B-aluCE" TargetMode="Externa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ECT vid bordet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Stimulus, impedans, anfall och säkerhet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 minuter och frågestund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>
          <a:xfrm>
            <a:off x="1096246" y="2098800"/>
            <a:ext cx="10047600" cy="3931920"/>
          </a:xfrm>
        </p:spPr>
        <p:txBody>
          <a:bodyPr/>
          <a:lstStyle/>
          <a:p>
            <a:r>
              <a:rPr b="1" sz="2000"/>
              <a:t>Inledning, 4,5 min: </a:t>
            </a:r>
            <a:r>
              <a:rPr sz="2000"/>
              <a:t>historia, indikationer och verkningsmekanismer</a:t>
            </a:r>
          </a:p>
          <a:p>
            <a:r>
              <a:rPr b="1" sz="2000"/>
              <a:t>Stimulus och impedans, 8 min: </a:t>
            </a:r>
            <a:r>
              <a:rPr sz="2000"/>
              <a:t>apparaten, rattarna, elektroder och hud</a:t>
            </a:r>
          </a:p>
          <a:p>
            <a:r>
              <a:rPr b="1" sz="2000"/>
              <a:t>Dosering, 3 min: </a:t>
            </a:r>
            <a:r>
              <a:rPr sz="2000"/>
              <a:t>kramptröskel, multipel och strömstyrka</a:t>
            </a:r>
          </a:p>
          <a:p>
            <a:r>
              <a:rPr b="1" sz="2000"/>
              <a:t>Vid bordet, 5,5 min: </a:t>
            </a:r>
            <a:r>
              <a:rPr sz="2000"/>
              <a:t>steg för steg, motorik och EEG, avvikande anfall</a:t>
            </a:r>
          </a:p>
          <a:p>
            <a:r>
              <a:rPr b="1" sz="2000"/>
              <a:t>Säkerhet, 2 min: </a:t>
            </a:r>
            <a:r>
              <a:rPr sz="2000"/>
              <a:t>läkemedel och biverkningar</a:t>
            </a:r>
          </a:p>
          <a:p>
            <a:pPr marL="0" indent="0">
              <a:buNone/>
            </a:pPr>
            <a:r>
              <a:rPr sz="2000" b="1"/>
              <a:t>Därefter film och frågestund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ECT:s historia i korthet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103120"/>
            <a:ext cx="105156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05256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Anfall med kamfer och kardiazol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Meduna, Budapest</a:t>
            </a:r>
          </a:p>
        </p:txBody>
      </p:sp>
      <p:sp>
        <p:nvSpPr>
          <p:cNvPr id="6" name="Oval 5"/>
          <p:cNvSpPr/>
          <p:nvPr/>
        </p:nvSpPr>
        <p:spPr>
          <a:xfrm>
            <a:off x="3218688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Första elektriskt utlösta anfallet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Cerletti och Bini, Rom</a:t>
            </a:r>
          </a:p>
        </p:txBody>
      </p:sp>
      <p:sp>
        <p:nvSpPr>
          <p:cNvPr id="8" name="Oval 7"/>
          <p:cNvSpPr/>
          <p:nvPr/>
        </p:nvSpPr>
        <p:spPr>
          <a:xfrm>
            <a:off x="5532119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79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Suxameton ger muskelrelaxation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Holmberg och Thesleff, Sverige</a:t>
            </a:r>
          </a:p>
        </p:txBody>
      </p:sp>
      <p:sp>
        <p:nvSpPr>
          <p:cNvPr id="10" name="Oval 9"/>
          <p:cNvSpPr/>
          <p:nvPr/>
        </p:nvSpPr>
        <p:spPr>
          <a:xfrm>
            <a:off x="7845552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Unilateral ECT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Lancaster m.fl.</a:t>
            </a:r>
          </a:p>
        </p:txBody>
      </p:sp>
      <p:sp>
        <p:nvSpPr>
          <p:cNvPr id="12" name="Oval 11"/>
          <p:cNvSpPr/>
          <p:nvPr/>
        </p:nvSpPr>
        <p:spPr>
          <a:xfrm>
            <a:off x="10158984" y="1554480"/>
            <a:ext cx="1097280" cy="10972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000" b="1">
                <a:solidFill>
                  <a:schemeClr val="bg1"/>
                </a:solidFill>
              </a:rPr>
              <a:t>1987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10344" y="2788920"/>
            <a:ext cx="21945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Dosering efter kramptröskeln; kortpuls ersätter sinusvåg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chemeClr val="tx1"/>
                </a:solidFill>
              </a:rPr>
              <a:t>Sackeim m.fl.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4800600"/>
            <a:ext cx="11475720" cy="11887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800" b="0">
                <a:solidFill>
                  <a:schemeClr val="tx1"/>
                </a:solidFill>
              </a:rPr>
              <a:t>Sverige 2013: knappt 4000 patienter, 41 per 100 000 invånare; 86 % av serierna gavs unilateralt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Endler 1988, Convuls Ther; Baran m.fl. 2012, J Affect Disord; Holmberg och Thesleff 1952, Am J Psychiatry; Lancaster m.fl. 1958, J Ment Sci; Sackeim m.fl. 1987; Nordanskog m.fl. 2015, J 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Indikationer och kontraindikationer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4846320" cy="4389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bg1"/>
                </a:solidFill>
              </a:rPr>
              <a:t>Indikationer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Svår depression, särskilt psykotisk eller melankolisk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Katatoni, malignt neuroleptikasyndrom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Akut suicidrisk, vägrar äta och dricka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Svår eller behandlingsresistent mani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Behandlingsresistent depression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Schizofreni med otillräcklig läkemedelseffekt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40096" y="1600200"/>
            <a:ext cx="6492240" cy="91440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Absoluta kontraindikationer: inga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0096" y="2651760"/>
            <a:ext cx="6492240" cy="3337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Relativa kontraindikationer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Hjärtinfarkt senaste 3 mån, instabil angina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Dekompenserad hjärtsvikt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Svår aortastenos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Aneurysm eller arteriovenös missbildning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Förhöjt intrakraniellt tryck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Stroke eller hjärnblödning senaste 1-3 mån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Feokromocytom, näthinneavlossning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2.2-2.4 och 9.2; The ECT Handbook, kap. 3-5, 10-11 och 27; Mankad m.fl. 2010, kap. 2-3; SPF:s riktlinjer 2014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Verkningsmekanismer och neurobiologiska korrelat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Anfallet krävs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Generaliserat anfall; subkonvulsiv stimulering ger svagare effekt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4528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Specifika nätverk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RUL aktiverar asymmetriskt; hjärnstammen alltid symmetriskt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Signalsubstanser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Monoaminer och GABA/glutamat; ökad hämmande kapacitet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" y="3840480"/>
            <a:ext cx="3685032" cy="20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HPA-axeln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bg1"/>
                </a:solidFill>
              </a:rPr>
              <a:t>Stresshormonaxeln är rubbad vid svår depression; ECT normaliserar den vid melankoli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Hippocampus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Ökad cellnybildning i djurstudier; betydelsen hos människa oklar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Funktionella nätverk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chemeClr val="tx1"/>
                </a:solidFill>
              </a:rPr>
              <a:t>ECT påverkar nätverk som är i obalans vid depression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SPF:s riktlinjer 2014, avsnitt 2.4, s. 21-23; The ECT Handbook, kap.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Stimulus och impedans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1 av 4  ·  8 minuter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Apparaten: MECTA spECTrum 5000Q</a:t>
            </a:r>
          </a:p>
        </p:txBody>
      </p:sp>
      <p:pic>
        <p:nvPicPr>
          <p:cNvPr id="3" name="MECTA spECTrum 5000Q, foto" descr="Foto av MECTA spECTrum 5000Q med skärm, rattar, EEG-ingångar, skrivare, kablar och bruksanvis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600200"/>
            <a:ext cx="6949440" cy="38529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98079" y="1600200"/>
            <a:ext cx="433425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Stimulus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Konstant ström 500-900 mA, bifasiska kortpulser; högst 1152 mC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3081528"/>
            <a:ext cx="433425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Impedans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Mäts före stimuleringen; spärr under 100 och över 5000 Ω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4562856"/>
            <a:ext cx="433425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EEG och skrivare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Två EEG-kanaler; pappersremsa efter behandlingen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bruksanvisning och datablad (200 J); Mankad m.fl. 2010, kap.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Fyra rattar bestämmer laddningen</a:t>
            </a:r>
          </a:p>
        </p:txBody>
      </p:sp>
      <p:pic>
        <p:nvPicPr>
          <p:cNvPr id="3" name="MECTA spECTrum 5000Q" descr="Frontpanel på MECTA spECTrum 5000Q med rattarna Pulse width, Frequency, Duration och Curr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600200"/>
            <a:ext cx="7040880" cy="27333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6616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Pulsbredd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0,3-1,0 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57984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Frekvens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20-120 Hz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Duration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0,5-8,0 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4526280"/>
            <a:ext cx="1664208" cy="10515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l"/>
            <a:r>
              <a:rPr sz="1400" b="1">
                <a:solidFill>
                  <a:schemeClr val="tx1"/>
                </a:solidFill>
              </a:rPr>
              <a:t>Strömstyrka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chemeClr val="tx1"/>
                </a:solidFill>
              </a:rPr>
              <a:t>500-900 mA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4105656" cy="3977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l"/>
            <a:r>
              <a:rPr sz="1600" b="1">
                <a:solidFill>
                  <a:schemeClr val="bg1"/>
                </a:solidFill>
              </a:rPr>
              <a:t>Laddning (mC)</a:t>
            </a:r>
          </a:p>
          <a:p>
            <a:pPr algn="l">
              <a:spcBef>
                <a:spcPts val="1600"/>
              </a:spcBef>
            </a:pPr>
            <a:r>
              <a:rPr sz="2000" b="1">
                <a:solidFill>
                  <a:schemeClr val="bg1"/>
                </a:solidFill>
              </a:rPr>
              <a:t>Q = PW × f × 2 × D × I / 1000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chemeClr val="bg1"/>
                </a:solidFill>
              </a:rPr>
              <a:t>1,0 ms × 60 Hz × 2 × 2,0 s × 800 mA / 1000 = 192 mC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chemeClr val="bg1"/>
                </a:solidFill>
              </a:rPr>
              <a:t>Bifasiska pulser: en positiv och en negativ per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bruksanvisning; Mankad m.fl. 2010, kap.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Bara omkring 1 % av strömmen når hjärnan</a:t>
            </a:r>
          </a:p>
        </p:txBody>
      </p:sp>
      <p:sp>
        <p:nvSpPr>
          <p:cNvPr id="3" name="Oval 2"/>
          <p:cNvSpPr/>
          <p:nvPr/>
        </p:nvSpPr>
        <p:spPr>
          <a:xfrm>
            <a:off x="1124712" y="1554480"/>
            <a:ext cx="2194560" cy="21945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4000" b="1">
                <a:solidFill>
                  <a:schemeClr val="bg1"/>
                </a:solidFill>
              </a:rPr>
              <a:t>~1 %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3840480"/>
            <a:ext cx="36576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passerar skallbenet in i hjärnan</a:t>
            </a:r>
          </a:p>
        </p:txBody>
      </p:sp>
      <p:sp>
        <p:nvSpPr>
          <p:cNvPr id="5" name="Oval 4"/>
          <p:cNvSpPr/>
          <p:nvPr/>
        </p:nvSpPr>
        <p:spPr>
          <a:xfrm>
            <a:off x="4946903" y="1554480"/>
            <a:ext cx="2194560" cy="219456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4000" b="1">
                <a:solidFill>
                  <a:schemeClr val="tx1"/>
                </a:solidFill>
              </a:rPr>
              <a:t>~99 %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8807" y="3840480"/>
            <a:ext cx="36576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leds genom hud och skalp och blir värme</a:t>
            </a:r>
          </a:p>
        </p:txBody>
      </p:sp>
      <p:sp>
        <p:nvSpPr>
          <p:cNvPr id="7" name="Oval 6"/>
          <p:cNvSpPr/>
          <p:nvPr/>
        </p:nvSpPr>
        <p:spPr>
          <a:xfrm>
            <a:off x="8769096" y="1554480"/>
            <a:ext cx="2194560" cy="2194560"/>
          </a:xfrm>
          <a:prstGeom prst="ellipse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600" b="1">
                <a:solidFill>
                  <a:schemeClr val="tx1"/>
                </a:solidFill>
              </a:rPr>
              <a:t>&lt; 0,001 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840480"/>
            <a:ext cx="36576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temperaturökning i hjärnan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" y="4709160"/>
            <a:ext cx="11475720" cy="123444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Brännskada uppstår bara där kontakten är dålig: hög impedans i kontaktytan mellan elektrod och hud. Skallbenets tjocklek och huvudets anatomi avgör hur mycket som når hjärnan.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Swartz 2009, kap. 1, s. 4-5; Fridgeirsson m.fl. 2021; Deng m.fl. 2022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Impedansen visar kontakten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5669280" cy="2103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Statisk, före stimulering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Spärrfönster 100-5000 Ω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Målvärde omkring 1000 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5" y="1600200"/>
            <a:ext cx="5669280" cy="2103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Dynamisk, under pulståget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Typiskt 150-350 Ω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Lägre än den statiska: huden leder bättre under pulserna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3886200"/>
            <a:ext cx="5669280" cy="2103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OVER: dålig kontakt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Hår, hudfett, för torr kompress, för löst 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3055" y="3886200"/>
            <a:ext cx="5669280" cy="2103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UNDER: salt- eller gelbrygga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Fuktig yta mellan elektroderna: strömmen går i huden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bruksanvisning; Mankad m.fl. 2010, kap. 4; målvärdet: klinisk erfarenhet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Elektrodplacering: stimulering och EEG</a:t>
            </a:r>
          </a:p>
        </p:txBody>
      </p:sp>
      <p:pic>
        <p:nvPicPr>
          <p:cNvPr id="3" name="elektrodplacering-stimulering" descr="Huvuden i halvprofil med elektroderna T och V vid högersidig unilateral placering och T på båda sidor vid bitemporal place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417320"/>
            <a:ext cx="4297680" cy="2743200"/>
          </a:xfrm>
          <a:prstGeom prst="rect">
            <a:avLst/>
          </a:prstGeom>
        </p:spPr>
      </p:pic>
      <p:pic>
        <p:nvPicPr>
          <p:cNvPr id="4" name="elektrodplacering-eeg" descr="Huvud och bröst framifrån med två EEG-elektroder i pannan och referenselektroden under nyckelben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417320"/>
            <a:ext cx="2350008" cy="27483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6616" y="4297680"/>
            <a:ext cx="2770632" cy="1783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/>
            <a:r>
              <a:rPr sz="1500" b="1">
                <a:solidFill>
                  <a:schemeClr val="bg1"/>
                </a:solidFill>
              </a:rPr>
              <a:t>RUL d’Elia, förstahandsval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bg1"/>
                </a:solidFill>
              </a:rPr>
              <a:t>T: 2,5-3 cm ovanför mitten av linjen ögonvrå-tragus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bg1"/>
                </a:solidFill>
              </a:rPr>
              <a:t>V: 2,5-3 cm höger om hjässan; minst 10-12 cm mellan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5264" y="4297680"/>
            <a:ext cx="2770632" cy="1783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/>
            <a:r>
              <a:rPr sz="1500" b="1">
                <a:solidFill>
                  <a:schemeClr val="tx1"/>
                </a:solidFill>
              </a:rPr>
              <a:t>Bitemporal (BT)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tx1"/>
                </a:solidFill>
              </a:rPr>
              <a:t>T på båda sidor, 2,5-3 cm ovanför mitten av linjen ögonvrå-tragus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3056" y="4297680"/>
            <a:ext cx="5669280" cy="178308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l"/>
            <a:r>
              <a:rPr sz="1500" b="1">
                <a:solidFill>
                  <a:schemeClr val="tx1"/>
                </a:solidFill>
              </a:rPr>
              <a:t>EEG, tre elektroder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tx1"/>
                </a:solidFill>
              </a:rPr>
              <a:t>Två i pannan, 2-3 cm ovanför ögonbrynen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chemeClr val="tx1"/>
                </a:solidFill>
              </a:rPr>
              <a:t>Referens under nyckelbenet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14.3; The ECT Handbook, kap. 22; d’Elia 1970; lokal rutin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Hudförberedelse: ren hud och saltkompress</a:t>
            </a:r>
          </a:p>
        </p:txBody>
      </p:sp>
      <p:sp>
        <p:nvSpPr>
          <p:cNvPr id="3" name="Oval 2"/>
          <p:cNvSpPr/>
          <p:nvPr/>
        </p:nvSpPr>
        <p:spPr>
          <a:xfrm>
            <a:off x="356616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Ren hud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Rent hår utan hårprodukter, osminkad</a:t>
            </a:r>
          </a:p>
        </p:txBody>
      </p:sp>
      <p:sp>
        <p:nvSpPr>
          <p:cNvPr id="5" name="Oval 4"/>
          <p:cNvSpPr/>
          <p:nvPr/>
        </p:nvSpPr>
        <p:spPr>
          <a:xfrm>
            <a:off x="3255264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5264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NaCl-kompress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NaCl 250 ml + ½ msk salt, små rena kompresser; gel som alternativ</a:t>
            </a:r>
          </a:p>
        </p:txBody>
      </p:sp>
      <p:sp>
        <p:nvSpPr>
          <p:cNvPr id="7" name="Oval 6"/>
          <p:cNvSpPr/>
          <p:nvPr/>
        </p:nvSpPr>
        <p:spPr>
          <a:xfrm>
            <a:off x="6153912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Får inte rinna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Fuktig kompress, ingen vätska mellan elektroderna: risk för saltbrygga</a:t>
            </a:r>
          </a:p>
        </p:txBody>
      </p:sp>
      <p:sp>
        <p:nvSpPr>
          <p:cNvPr id="9" name="Oval 8"/>
          <p:cNvSpPr/>
          <p:nvPr/>
        </p:nvSpPr>
        <p:spPr>
          <a:xfrm>
            <a:off x="9052560" y="1691640"/>
            <a:ext cx="10058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2926080"/>
            <a:ext cx="2743200" cy="29260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Ingen sprit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Används inte hos oss; måste vara helt torr: brandrisk nära syrgas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14.5; Swartz 2009, s. 5; lokal rutin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Pulsbredd: effekt mot minnesbiverkningar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5669280" cy="3246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bg1"/>
                </a:solidFill>
              </a:rPr>
              <a:t>Kortpuls, 0,5-1,0 ms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Standard hos oss och vanligast i Sverige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Bäst underbyggd effekt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bg1"/>
                </a:solidFill>
              </a:rPr>
              <a:t>Svenska registret: puls minst 0,5 ms gav oftare remission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6" y="1600200"/>
            <a:ext cx="5669280" cy="3246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Ultrakort puls, 0,25-0,3 ms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Mindre minnesbiverkningar vid RUL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Något sämre effekt och i genomsnitt en behandling till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Används inte hos 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5029200"/>
            <a:ext cx="11475720" cy="9601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Samma laddning (mC) är inte likvärdig vid olika pulsbredd: byte av pulsbredd kräver ny bedömning av dosen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Sackeim m.fl. 2008, Brain Stimul; Tor m.fl. 2015, J Clin Psychiatry; Brus m.fl. 2017, Eur Psychiatry och J ECT; APA 2025, kap.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 Sverige är 0,5 ms vanligast</a:t>
            </a:r>
          </a:p>
        </p:txBody>
      </p:sp>
      <p:graphicFrame>
        <p:nvGraphicFramePr>
          <p:cNvPr id="3" name="Pulsbredd i Sverige"/>
          <p:cNvGraphicFramePr>
            <a:graphicFrameLocks noGrp="1"/>
          </p:cNvGraphicFramePr>
          <p:nvPr/>
        </p:nvGraphicFramePr>
        <p:xfrm>
          <a:off x="356616" y="1508760"/>
          <a:ext cx="740664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8046720" y="1600200"/>
            <a:ext cx="3785615" cy="2103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3200" b="1">
                <a:solidFill>
                  <a:schemeClr val="bg1"/>
                </a:solidFill>
              </a:rPr>
              <a:t>68,4 %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chemeClr val="bg1"/>
                </a:solidFill>
              </a:rPr>
              <a:t>fick 0,50 ms (1671 patienter, 2011-2014)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3886200"/>
            <a:ext cx="3785615" cy="2103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Ultrakort puls (under 0,5 ms) används inte hos 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Källa: Brus m.fl. 2017, Eur Psychiatry (tabell 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2 av 4  ·  3 minuter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Kramptröskeln styr dosen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4937760" cy="4343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Höjer tröskeln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Hög ålder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Manligt kön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Bensodiazepiner och antiepileptika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Djup anestesi (propofol)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800" b="0">
                <a:solidFill>
                  <a:schemeClr val="tx1"/>
                </a:solidFill>
              </a:rPr>
              <a:t>Bitemporal placering (jämfört med RUL)</a:t>
            </a:r>
          </a:p>
        </p:txBody>
      </p:sp>
      <p:graphicFrame>
        <p:nvGraphicFramePr>
          <p:cNvPr id="4" name="Multipel av tröskeln"/>
          <p:cNvGraphicFramePr>
            <a:graphicFrameLocks noGrp="1"/>
          </p:cNvGraphicFramePr>
          <p:nvPr/>
        </p:nvGraphicFramePr>
        <p:xfrm>
          <a:off x="5532120" y="1600200"/>
          <a:ext cx="6300216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734056"/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Placering och puls</a:t>
                      </a:r>
                    </a:p>
                  </a:txBody>
                  <a:tcPr anchor="ctr" marL="164592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Multipel</a:t>
                      </a:r>
                    </a:p>
                  </a:txBody>
                  <a:tcPr anchor="ctr" marL="164592">
                    <a:solidFill>
                      <a:schemeClr val="accen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RUL, kortpuls</a:t>
                      </a:r>
                    </a:p>
                  </a:txBody>
                  <a:tcPr anchor="ctr" marL="164592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4-6 × tröskeln</a:t>
                      </a:r>
                    </a:p>
                  </a:txBody>
                  <a:tcPr anchor="ctr" marL="164592">
                    <a:solidFill>
                      <a:schemeClr val="bg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Bitemporal, kortpuls</a:t>
                      </a:r>
                    </a:p>
                  </a:txBody>
                  <a:tcPr anchor="ctr" marL="164592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1,5-2,5 × tröskeln</a:t>
                      </a:r>
                    </a:p>
                  </a:txBody>
                  <a:tcPr anchor="ctr" marL="164592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532120" y="3611880"/>
            <a:ext cx="6300216" cy="23317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Räkneexempel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RUL: tröskel 50 mC × 5 = 250 mC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Bitemporal: tröskel 75 mC × 2 = 150 mC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chemeClr val="tx1"/>
                </a:solidFill>
              </a:rPr>
              <a:t>Högre tröskel betyder inte högre 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Sackeim m.fl. 1987, Arch Gen Psychiatry; APA 2025, kap. 14; Mankad m.fl. 2010, tabell 5-1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Strömstyrkan ställs in enligt ordination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600200"/>
            <a:ext cx="2743200" cy="2743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800" b="1">
                <a:solidFill>
                  <a:schemeClr val="bg1"/>
                </a:solidFill>
              </a:rPr>
              <a:t>500-900 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4526280"/>
            <a:ext cx="3657600" cy="1371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0">
                <a:solidFill>
                  <a:schemeClr val="tx1"/>
                </a:solidFill>
              </a:rPr>
              <a:t>Enligt ordination; dosen anpassas i första hand med laddningen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00200"/>
            <a:ext cx="744321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Anatomin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Skallbenets tjocklek och huvudets storlek avgör hur mycket som når hjärnan, inte kroppsvikten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081528"/>
            <a:ext cx="744321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Lägre ström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700-800 mA gav bättre effekt än 600 mA; verbalt flöde försämrades vid 800 mA (Abbott 2021)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4562856"/>
            <a:ext cx="7443216" cy="134416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I Sverige 2011-2014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chemeClr val="tx1"/>
                </a:solidFill>
              </a:rPr>
              <a:t>528-800 mA hos 55,5 %, 850-890 mA hos 12,7 % och 900-930 mA hos 31,7 % (Brus 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MECTA spECTrum 5000Q, datablad (200 J); Abbott m.fl. 2021; Brus m.fl. 2017, Eur Psychiatry (tabell 1); Deng m.fl. 2022; SPF:s riktlinjer 2014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 bordet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3 av 4  ·  5,5 minuter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Behandlingen steg för steg</a:t>
            </a:r>
          </a:p>
        </p:txBody>
      </p:sp>
      <p:sp>
        <p:nvSpPr>
          <p:cNvPr id="3" name="Oval 2"/>
          <p:cNvSpPr/>
          <p:nvPr/>
        </p:nvSpPr>
        <p:spPr>
          <a:xfrm>
            <a:off x="35661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Kontroller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ID, fasta, mediciner, blåstömning, blodtryck</a:t>
            </a:r>
          </a:p>
        </p:txBody>
      </p:sp>
      <p:sp>
        <p:nvSpPr>
          <p:cNvPr id="5" name="Oval 4"/>
          <p:cNvSpPr/>
          <p:nvPr/>
        </p:nvSpPr>
        <p:spPr>
          <a:xfrm>
            <a:off x="227685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685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Förberedelse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Uppkoppling, hud, NaCl-kompress</a:t>
            </a:r>
          </a:p>
        </p:txBody>
      </p:sp>
      <p:sp>
        <p:nvSpPr>
          <p:cNvPr id="7" name="Oval 6"/>
          <p:cNvSpPr/>
          <p:nvPr/>
        </p:nvSpPr>
        <p:spPr>
          <a:xfrm>
            <a:off x="419709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709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Induktion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Preoxygenering, propofol</a:t>
            </a:r>
          </a:p>
        </p:txBody>
      </p:sp>
      <p:sp>
        <p:nvSpPr>
          <p:cNvPr id="9" name="Oval 8"/>
          <p:cNvSpPr/>
          <p:nvPr/>
        </p:nvSpPr>
        <p:spPr>
          <a:xfrm>
            <a:off x="611733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Relaxation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Suxameton för muskelrelaxation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03757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3757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Klartecken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Bitblock, anestesins klartecken</a:t>
            </a:r>
          </a:p>
        </p:txBody>
      </p:sp>
      <p:sp>
        <p:nvSpPr>
          <p:cNvPr id="13" name="Oval 12"/>
          <p:cNvSpPr/>
          <p:nvPr/>
        </p:nvSpPr>
        <p:spPr>
          <a:xfrm>
            <a:off x="995781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57816" y="2606040"/>
            <a:ext cx="1801368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128016" bIns="128016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Stimulering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Elektroder och impedans, håll knappen tills tonen tystnar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" y="4800600"/>
            <a:ext cx="11475720" cy="11887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>
              <a:spcBef>
                <a:spcPts val="600"/>
              </a:spcBef>
            </a:pPr>
            <a:r>
              <a:rPr sz="1600" b="1">
                <a:solidFill>
                  <a:schemeClr val="tx1"/>
                </a:solidFill>
              </a:rPr>
              <a:t>Blodtrycket mäts före behandlingen och omedelbart efter att EEG-aktiviteten har upphört</a:t>
            </a:r>
          </a:p>
          <a:p>
            <a:pPr algn="l" marL="269875" indent="-269875">
              <a:spcBef>
                <a:spcPts val="6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Ordinarie antihypertensiva och PPI ges på avdelningen före ECT, annars enligt anestesiplanen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APA 2025, kap. 14; The ECT Handbook, kap. 22; lokal rutin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Motorisk kramp: faser och avläsning</a:t>
            </a:r>
          </a:p>
        </p:txBody>
      </p:sp>
      <p:sp>
        <p:nvSpPr>
          <p:cNvPr id="3" name="Oval 2"/>
          <p:cNvSpPr/>
          <p:nvPr/>
        </p:nvSpPr>
        <p:spPr>
          <a:xfrm>
            <a:off x="356616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Under pulståget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Käke och nacke drar ihop sig av strömmen; hör inte till anfallet</a:t>
            </a:r>
          </a:p>
        </p:txBody>
      </p:sp>
      <p:sp>
        <p:nvSpPr>
          <p:cNvPr id="5" name="Oval 4"/>
          <p:cNvSpPr/>
          <p:nvPr/>
        </p:nvSpPr>
        <p:spPr>
          <a:xfrm>
            <a:off x="3255264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55264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Tonisk fas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Ihållande kontraktion direkt eller inom några sekunder, vid tröskelnära stimulering upp till 10 s</a:t>
            </a:r>
          </a:p>
        </p:txBody>
      </p:sp>
      <p:sp>
        <p:nvSpPr>
          <p:cNvPr id="7" name="Oval 6"/>
          <p:cNvSpPr/>
          <p:nvPr/>
        </p:nvSpPr>
        <p:spPr>
          <a:xfrm>
            <a:off x="6153912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Klonisk fas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Rytmiska ryckningar som blir glesare; under relaxation ofta bara i tår, fingrar eller ansikte</a:t>
            </a:r>
          </a:p>
        </p:txBody>
      </p:sp>
      <p:sp>
        <p:nvSpPr>
          <p:cNvPr id="9" name="Oval 8"/>
          <p:cNvSpPr/>
          <p:nvPr/>
        </p:nvSpPr>
        <p:spPr>
          <a:xfrm>
            <a:off x="9052560" y="160020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  <a:r>
              <a:rPr sz="2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2606040"/>
            <a:ext cx="2743200" cy="224028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Motoriskt slut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chemeClr val="tx1"/>
                </a:solidFill>
              </a:rPr>
              <a:t>När ryckningarna har upphört helt: läs av sekunderna på apparaten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" y="5029200"/>
            <a:ext cx="11475720" cy="960120"/>
          </a:xfrm>
          <a:prstGeom prst="rect">
            <a:avLst/>
          </a:prstGeom>
          <a:solidFill>
            <a:srgbClr val="B3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l"/>
            <a:r>
              <a:rPr sz="1600" b="0">
                <a:solidFill>
                  <a:schemeClr val="tx1"/>
                </a:solidFill>
              </a:rPr>
              <a:t>Motorisk duration vanligen över 20-30 s; EEG-anfallet varar vanligen 10-20 s längre. Sekundgränserna är inga absoluta effektkriterier.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VGR:s regionala riktlinje ECT 2024; Mankad m.fl. 2010, kap. 7; The ECT Handbook, kap. 26, s. 234-236; APA 2025, kap. 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EEG: ett anfall på pappersremsan</a:t>
            </a:r>
          </a:p>
        </p:txBody>
      </p:sp>
      <p:pic>
        <p:nvPicPr>
          <p:cNvPr id="3" name="EEG-remsa, rad 1" descr="Klinisk tvåkanalig EEG-registrering under ECT, rad 1 av 5 (start till 8 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554480"/>
            <a:ext cx="5669280" cy="1336044"/>
          </a:xfrm>
          <a:prstGeom prst="rect">
            <a:avLst/>
          </a:prstGeom>
        </p:spPr>
      </p:pic>
      <p:pic>
        <p:nvPicPr>
          <p:cNvPr id="4" name="EEG-remsa, rad 2" descr="Klinisk tvåkanalig EEG-registrering under ECT, rad 2 av 5 (11-19 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953512"/>
            <a:ext cx="5669280" cy="1269242"/>
          </a:xfrm>
          <a:prstGeom prst="rect">
            <a:avLst/>
          </a:prstGeom>
        </p:spPr>
      </p:pic>
      <p:pic>
        <p:nvPicPr>
          <p:cNvPr id="5" name="EEG-remsa, rad 3" descr="Klinisk tvåkanalig EEG-registrering under ECT, rad 3 av 5 (24-32 s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4352544"/>
            <a:ext cx="5669280" cy="1269242"/>
          </a:xfrm>
          <a:prstGeom prst="rect">
            <a:avLst/>
          </a:prstGeom>
        </p:spPr>
      </p:pic>
      <p:pic>
        <p:nvPicPr>
          <p:cNvPr id="6" name="EEG-remsa, rad 4" descr="Klinisk tvåkanalig EEG-registrering under ECT, rad 4 av 5 (37-45 s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54480"/>
            <a:ext cx="5669280" cy="1291509"/>
          </a:xfrm>
          <a:prstGeom prst="rect">
            <a:avLst/>
          </a:prstGeom>
        </p:spPr>
      </p:pic>
      <p:pic>
        <p:nvPicPr>
          <p:cNvPr id="7" name="EEG-remsa, rad 5" descr="Klinisk tvåkanalig EEG-registrering under ECT, rad 5 av 5 (46-53 s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2953512"/>
            <a:ext cx="5669280" cy="1313777"/>
          </a:xfrm>
          <a:prstGeom prst="rect">
            <a:avLst/>
          </a:prstGeom>
        </p:spPr>
      </p:pic>
      <p:sp>
        <p:nvSpPr>
          <p:cNvPr id="8" name="Teckenförklaring"/>
          <p:cNvSpPr/>
          <p:nvPr/>
        </p:nvSpPr>
        <p:spPr>
          <a:xfrm>
            <a:off x="6163056" y="4352544"/>
            <a:ext cx="5669280" cy="128016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64592" bIns="164592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443984"/>
            <a:ext cx="26974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</a:pPr>
            <a:r>
              <a:rPr b="1" sz="1600">
                <a:solidFill>
                  <a:schemeClr val="tx1"/>
                </a:solidFill>
              </a:rPr>
              <a:t>B  </a:t>
            </a:r>
            <a:r>
              <a:rPr sz="1600">
                <a:solidFill>
                  <a:schemeClr val="tx1"/>
                </a:solidFill>
              </a:rPr>
              <a:t>rekrytering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C  </a:t>
            </a:r>
            <a:r>
              <a:rPr sz="1600">
                <a:solidFill>
                  <a:schemeClr val="tx1"/>
                </a:solidFill>
              </a:rPr>
              <a:t>polyspikar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D  </a:t>
            </a:r>
            <a:r>
              <a:rPr sz="1600">
                <a:solidFill>
                  <a:schemeClr val="tx1"/>
                </a:solidFill>
              </a:rPr>
              <a:t>theta och delta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E  </a:t>
            </a:r>
            <a:r>
              <a:rPr sz="1600">
                <a:solidFill>
                  <a:schemeClr val="tx1"/>
                </a:solidFill>
              </a:rPr>
              <a:t>spik-våg, 2-3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443984"/>
            <a:ext cx="26974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</a:pPr>
            <a:r>
              <a:rPr b="1" sz="1600">
                <a:solidFill>
                  <a:schemeClr val="tx1"/>
                </a:solidFill>
              </a:rPr>
              <a:t>F  </a:t>
            </a:r>
            <a:r>
              <a:rPr sz="1600">
                <a:solidFill>
                  <a:schemeClr val="tx1"/>
                </a:solidFill>
              </a:rPr>
              <a:t>anfallet avtar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G  </a:t>
            </a:r>
            <a:r>
              <a:rPr sz="1600">
                <a:solidFill>
                  <a:schemeClr val="tx1"/>
                </a:solidFill>
              </a:rPr>
              <a:t>suppression</a:t>
            </a:r>
          </a:p>
          <a:p>
            <a:pPr>
              <a:spcBef>
                <a:spcPts val="200"/>
              </a:spcBef>
            </a:pPr>
            <a:r>
              <a:rPr b="1" sz="1600">
                <a:solidFill>
                  <a:schemeClr val="tx1"/>
                </a:solidFill>
              </a:rPr>
              <a:t>H  </a:t>
            </a:r>
            <a:r>
              <a:rPr sz="1600">
                <a:solidFill>
                  <a:schemeClr val="tx1"/>
                </a:solidFill>
              </a:rPr>
              <a:t>rörelseartefakt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Bild: Semple och Devlin, The ECT Handbook, 4 uppl. 2019, kap. 26, figur 26.7, s. 240. Källor: APA 2025, kap. 15; Mankad m.fl. 2010, kap.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Anfallets längd: motorisk kramp och EEG-tid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508760"/>
            <a:ext cx="566928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Motorisk duration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Från stimuleringen tills ryckningarna har upphört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Manschettmetoden används inte rutinmässigt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5" y="1508760"/>
            <a:ext cx="5669280" cy="1600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l"/>
            <a:r>
              <a:rPr sz="1800" b="1">
                <a:solidFill>
                  <a:schemeClr val="tx1"/>
                </a:solidFill>
              </a:rPr>
              <a:t>EEG-tid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Från stimuleringen tills EEG planar ut</a:t>
            </a:r>
          </a:p>
          <a:p>
            <a:pPr algn="l" marL="269875" indent="-269875">
              <a:spcBef>
                <a:spcPts val="8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Verifiera slutet på EEG även när motoriken upphört</a:t>
            </a:r>
          </a:p>
        </p:txBody>
      </p:sp>
      <p:pic>
        <p:nvPicPr>
          <p:cNvPr id="5" name="Pappersremsa" descr="Utskrift från MECTA spECTrum 5000Q med SELF TEST RESULTS, EEG-spår och TREATMENT 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3337560"/>
            <a:ext cx="9692640" cy="2440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41280" y="3337560"/>
            <a:ext cx="1591056" cy="244144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chemeClr val="tx1"/>
                </a:solidFill>
              </a:rPr>
              <a:t>Utskrift direkt efter stimuleringen: SELF TEST RESULTS, EEG-spår och TREATMENT RESULTS. Tiden läses av i sekunder.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The ECT Handbook, kap. 26, s. 234-236; MECTA-manualen (100 J), s. 57; lokal rutin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Missat, kort eller förlängt anfall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3685032" cy="4389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Missat anfall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Inget anfall på EEG och ingen motorik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Avvakta minst 20 sekunder: anfallet kan starta sent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Kontrollera kontakt, brygga och levererad laddning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Ny stimulering är ett nytt beslut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4528" y="1600200"/>
            <a:ext cx="3685032" cy="43891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Kort anfall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Inte automatiskt ineffektivt: bedöm EEG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Restimulera inte bara för att en sekundgräns underskrids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tx1"/>
                </a:solidFill>
              </a:rPr>
              <a:t>Före ny stimulering: vänta 40-60 sekunder med ventilation (APA: minst 45)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1600200"/>
            <a:ext cx="3685032" cy="4389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200" b="1">
                <a:solidFill>
                  <a:schemeClr val="bg1"/>
                </a:solidFill>
              </a:rPr>
              <a:t>Förlängt anfall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Kramp längre än 1 minut (APA: omkring 2 minuter)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Informera anestesin; krampen bryts med diazepam (Stesolid) iv</a:t>
            </a:r>
          </a:p>
          <a:p>
            <a:pPr algn="l" marL="269875" indent="-269875">
              <a:spcBef>
                <a:spcPts val="1200"/>
              </a:spcBef>
              <a:buFont typeface="Verdana"/>
              <a:buChar char="•"/>
            </a:pPr>
            <a:r>
              <a:rPr sz="1600" b="0">
                <a:solidFill>
                  <a:schemeClr val="bg1"/>
                </a:solidFill>
              </a:rPr>
              <a:t>Verifiera slutet på EEG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VGR:s regionala riktlinje ECT 2024; SPF:s riktlinjer 2014, avsnitt 7.6; APA 2025, kap. 21.1-21.3; IVA Mölndal, rutin ECT 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Säkerhet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Del 4 av 4  ·  2 minuter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Läkemedel att stämma av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Bensodiazepiner, antiepileptika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Höjer tröskeln: korta eller missade anfall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4528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Litium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Delirium, förlängd blockad, sällsynt serotonergt syndrom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160020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Teofyllin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Förlängda anfall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Kolinesterashämmare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Förlängd suxametoneffekt, bradykardi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3840480"/>
            <a:ext cx="3685032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tx1"/>
                </a:solidFill>
              </a:rPr>
              <a:t>SSRI, SNRI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tx1"/>
                </a:solidFill>
              </a:rPr>
              <a:t>Sällsynt serotonergt syndrom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3840480"/>
            <a:ext cx="3685032" cy="20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28600" bIns="228600" wrap="square"/>
          <a:lstStyle/>
          <a:p>
            <a:pPr algn="l"/>
            <a:r>
              <a:rPr sz="2000" b="1">
                <a:solidFill>
                  <a:schemeClr val="bg1"/>
                </a:solidFill>
              </a:rPr>
              <a:t>Antihypertensiva, PPI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chemeClr val="bg1"/>
                </a:solidFill>
              </a:rPr>
              <a:t>Ges på avdelningen före 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The ECT Handbook, kap. 25; lokal rutin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Biverkningar och hur vi minskar dem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616" y="160020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Minnet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RUL i första hand och två behandlingar i veckan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3055" y="160020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Huvudvärk, muskelvärk, illamående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Vanligt; paracetamol, NSAID, antiemetika enligt 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" y="384048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Postiktal agitation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Luftväg, syresättning och cirkulation först; lugn miljö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3055" y="3840480"/>
            <a:ext cx="5669280" cy="2057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74320" bIns="274320" wrap="square"/>
          <a:lstStyle/>
          <a:p>
            <a:pPr algn="l"/>
            <a:r>
              <a:rPr sz="2200" b="1">
                <a:solidFill>
                  <a:schemeClr val="tx1"/>
                </a:solidFill>
              </a:rPr>
              <a:t>Serotonergt syndrom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chemeClr val="tx1"/>
                </a:solidFill>
              </a:rPr>
              <a:t>Sällsynt: klonus, hyperreflexi, tremor, svettning, feber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Källor: The ECT Handbook, kap. 13; Boyer och Shannon 2005; Dunkley m.fl. 2003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 ta med sig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>
          <a:xfrm>
            <a:off x="1096246" y="2098800"/>
            <a:ext cx="10047600" cy="3931920"/>
          </a:xfrm>
        </p:spPr>
        <p:txBody>
          <a:bodyPr/>
          <a:lstStyle/>
          <a:p>
            <a:r>
              <a:rPr sz="2000" b="0"/>
              <a:t>Skärmen ska visa ordinerad laddning i mC</a:t>
            </a:r>
          </a:p>
          <a:p>
            <a:r>
              <a:rPr sz="2000" b="0"/>
              <a:t>God kontakt: ren hud, NaCl-kompress som inte rinner, ingen brygga</a:t>
            </a:r>
          </a:p>
          <a:p>
            <a:r>
              <a:rPr sz="2000" b="0"/>
              <a:t>Dosen anpassas med laddningen; strömstyrka enligt ordination</a:t>
            </a:r>
          </a:p>
          <a:p>
            <a:r>
              <a:rPr sz="2000" b="0"/>
              <a:t>Bedöm anfallets längd på motorisk kramp och EEG-tid</a:t>
            </a:r>
          </a:p>
          <a:p>
            <a:r>
              <a:rPr sz="2000" b="0"/>
              <a:t>Stäm av läkemedlen inför serien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Film: The truth about ECT</a:t>
            </a:r>
          </a:p>
        </p:txBody>
      </p:sp>
      <p:pic>
        <p:nvPicPr>
          <p:cNvPr id="3" name="Film: The truth about electroconvulsive therapy (ECT), TED-Ed" descr="Startbild för filmen The truth about electroconvulsive therapy (ECT), TED-Ed; länk till filmen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508760"/>
            <a:ext cx="7680960" cy="4320540"/>
          </a:xfrm>
          <a:prstGeom prst="rect">
            <a:avLst/>
          </a:prstGeom>
        </p:spPr>
      </p:pic>
      <p:sp>
        <p:nvSpPr>
          <p:cNvPr id="4" name="Spela upp">
            <a:hlinkClick r:id="rId3"/>
          </p:cNvPr>
          <p:cNvSpPr/>
          <p:nvPr/>
        </p:nvSpPr>
        <p:spPr>
          <a:xfrm>
            <a:off x="7031736" y="4823459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</a:p>
        </p:txBody>
      </p:sp>
      <p:sp>
        <p:nvSpPr>
          <p:cNvPr id="5" name="Spela upp, symbol">
            <a:hlinkClick r:id="rId3"/>
          </p:cNvPr>
          <p:cNvSpPr/>
          <p:nvPr/>
        </p:nvSpPr>
        <p:spPr>
          <a:xfrm rot="5400000">
            <a:off x="7306056" y="5052059"/>
            <a:ext cx="365760" cy="34747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0456" y="1508760"/>
            <a:ext cx="3611880" cy="43251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201168" tIns="201168" bIns="201168" wrap="square"/>
          <a:lstStyle/>
          <a:p>
            <a:pPr algn="l"/>
            <a:r>
              <a:rPr sz="1600" b="1">
                <a:solidFill>
                  <a:schemeClr val="tx1"/>
                </a:solidFill>
              </a:rPr>
              <a:t>The truth about electroconvulsive therapy (ECT)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Helen M. Farrell, TED-Ed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Animerad film på engelska, 4 min 24 s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chemeClr val="tx1"/>
                </a:solidFill>
              </a:rPr>
              <a:t>Klicka på bilden för att öppna filmen på TED.com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chemeClr val="tx1"/>
                </a:solidFill>
              </a:rPr>
              <a:t>© TED Conferences, LLC. TED-Ed-filmer har YouTubes standardlicens, inte Creative Commons, och visas direkt från TED.com eller YouTube.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Källa: Farrell HM. The truth about electroconvulsive therapy (ECT). TED-Ed; ted.com/talks/helen_m_farrell_the_truth_about_electroconvulsive_therapy_ect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Fler filmer om ECT</a:t>
            </a:r>
          </a:p>
        </p:txBody>
      </p:sp>
      <p:pic>
        <p:nvPicPr>
          <p:cNvPr id="3" name="Film: Electroconvulsive Therapy (ECT) Explained: How It Works, Recovery and Who It's For" descr="Startbild för filmen Electroconvulsive Therapy (ECT) Explained: How It Works, Recovery and Who It's For; länk till filmen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417320"/>
            <a:ext cx="5669280" cy="3188970"/>
          </a:xfrm>
          <a:prstGeom prst="rect">
            <a:avLst/>
          </a:prstGeom>
        </p:spPr>
      </p:pic>
      <p:sp>
        <p:nvSpPr>
          <p:cNvPr id="4" name="Spela upp">
            <a:hlinkClick r:id="rId3"/>
          </p:cNvPr>
          <p:cNvSpPr/>
          <p:nvPr/>
        </p:nvSpPr>
        <p:spPr>
          <a:xfrm>
            <a:off x="5020055" y="360045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</a:p>
        </p:txBody>
      </p:sp>
      <p:sp>
        <p:nvSpPr>
          <p:cNvPr id="5" name="Spela upp, symbol">
            <a:hlinkClick r:id="rId3"/>
          </p:cNvPr>
          <p:cNvSpPr/>
          <p:nvPr/>
        </p:nvSpPr>
        <p:spPr>
          <a:xfrm rot="5400000">
            <a:off x="5294375" y="3829050"/>
            <a:ext cx="365760" cy="34747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" y="4716018"/>
            <a:ext cx="566928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Electroconvulsive Therapy (ECT) Explained: How It Works, Recovery and Who It's For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chemeClr val="tx1"/>
                </a:solidFill>
              </a:rPr>
              <a:t>UC Davis Health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chemeClr val="tx1"/>
                </a:solidFill>
              </a:rPr>
              <a:t>youtube.com/watch?v=eP83fh2FswU</a:t>
            </a:r>
          </a:p>
        </p:txBody>
      </p:sp>
      <p:pic>
        <p:nvPicPr>
          <p:cNvPr id="7" name="Film: ECT" descr="Startbild för filmen ECT; länk till filmen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417320"/>
            <a:ext cx="5669280" cy="3188970"/>
          </a:xfrm>
          <a:prstGeom prst="rect">
            <a:avLst/>
          </a:prstGeom>
        </p:spPr>
      </p:pic>
      <p:sp>
        <p:nvSpPr>
          <p:cNvPr id="8" name="Spela upp">
            <a:hlinkClick r:id="rId5"/>
          </p:cNvPr>
          <p:cNvSpPr/>
          <p:nvPr/>
        </p:nvSpPr>
        <p:spPr>
          <a:xfrm>
            <a:off x="10826496" y="360045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/>
          </a:p>
        </p:txBody>
      </p:sp>
      <p:sp>
        <p:nvSpPr>
          <p:cNvPr id="9" name="Spela upp, symbol">
            <a:hlinkClick r:id="rId5"/>
          </p:cNvPr>
          <p:cNvSpPr/>
          <p:nvPr/>
        </p:nvSpPr>
        <p:spPr>
          <a:xfrm rot="5400000">
            <a:off x="11100816" y="3829050"/>
            <a:ext cx="365760" cy="347472"/>
          </a:xfrm>
          <a:prstGeom prst="triangl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6" y="4716018"/>
            <a:ext cx="566928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ECT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chemeClr val="tx1"/>
                </a:solidFill>
              </a:rPr>
              <a:t>St George's, University of London &amp; South West London &amp; St George's Mental Health NHS Trust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chemeClr val="tx1"/>
                </a:solidFill>
              </a:rPr>
              <a:t>youtube.com/watch?v=9L2-B-aluCE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6236208"/>
            <a:ext cx="114757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chemeClr val="tx1"/>
                </a:solidFill>
              </a:rPr>
              <a:t>Filmerna öppnas på YouTube och tillhör respektive upphovsperson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Frågor?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Sahlgrenska Universitetssjukhuset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">
  <a:themeElements>
    <a:clrScheme name="Anpassat 2">
      <a:dk1>
        <a:sysClr val="windowText" lastClr="000000"/>
      </a:dk1>
      <a:lt1>
        <a:sysClr val="window" lastClr="FFFFFF"/>
      </a:lt1>
      <a:dk2>
        <a:srgbClr val="000000"/>
      </a:dk2>
      <a:lt2>
        <a:srgbClr val="E7E1DF"/>
      </a:lt2>
      <a:accent1>
        <a:srgbClr val="005B89"/>
      </a:accent1>
      <a:accent2>
        <a:srgbClr val="1A9FB3"/>
      </a:accent2>
      <a:accent3>
        <a:srgbClr val="ED5F8C"/>
      </a:accent3>
      <a:accent4>
        <a:srgbClr val="A1887F"/>
      </a:accent4>
      <a:accent5>
        <a:srgbClr val="43A447"/>
      </a:accent5>
      <a:accent6>
        <a:srgbClr val="9575CD"/>
      </a:accent6>
      <a:hlink>
        <a:srgbClr val="0070C0"/>
      </a:hlink>
      <a:folHlink>
        <a:srgbClr val="919191"/>
      </a:folHlink>
    </a:clrScheme>
    <a:fontScheme name="VGR Typsnit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/>
        </a:defPPr>
      </a:lstStyle>
    </a:txDef>
  </a:objectDefaults>
  <a:extraClrSchemeLst/>
  <a:custClrLst>
    <a:custClr>
      <a:srgbClr val="FFC107"/>
    </a:custClr>
    <a:custClr>
      <a:srgbClr val="CCDB49"/>
    </a:custClr>
    <a:custClr>
      <a:srgbClr val="FD5930"/>
    </a:custClr>
    <a:custClr>
      <a:srgbClr val="FFECB3"/>
    </a:custClr>
    <a:custClr>
      <a:srgbClr val="F7BBD0"/>
    </a:custClr>
    <a:custClr>
      <a:srgbClr val="D1C4E9"/>
    </a:custClr>
    <a:custClr>
      <a:srgbClr val="EFF4C6"/>
    </a:custClr>
    <a:custClr>
      <a:srgbClr val="C0EEC2"/>
    </a:custClr>
    <a:custClr>
      <a:srgbClr val="FECCBF"/>
    </a:custClr>
    <a:custClr>
      <a:srgbClr val="B3EBF2"/>
    </a:custClr>
    <a:custClr>
      <a:srgbClr val="E7E1DF"/>
    </a:custClr>
  </a:custClrLst>
  <a:extLst>
    <a:ext uri="{05A4C25C-085E-4340-85A3-A5531E510DB2}">
      <thm15:themeFamily xmlns:thm15="http://schemas.microsoft.com/office/thememl/2012/main" name="SU PPT-mall med fler layouter" id="{1E80A394-8980-474B-8488-3890D4E05C37}" vid="{7388A68D-BAFA-4414-9F98-D6F6C87C5021}"/>
    </a:ext>
  </a:extLst>
</a:theme>
</file>

<file path=ppt/theme/theme2.xml><?xml version="1.0" encoding="utf-8"?>
<a:theme xmlns:a="http://schemas.openxmlformats.org/drawingml/2006/main" name="Office-tema">
  <a:themeElements>
    <a:clrScheme name="VGR | Sjukvård | Färger">
      <a:dk1>
        <a:sysClr val="windowText" lastClr="000000"/>
      </a:dk1>
      <a:lt1>
        <a:sysClr val="window" lastClr="FFFFFF"/>
      </a:lt1>
      <a:dk2>
        <a:srgbClr val="000000"/>
      </a:dk2>
      <a:lt2>
        <a:srgbClr val="E7E1DF"/>
      </a:lt2>
      <a:accent1>
        <a:srgbClr val="005B89"/>
      </a:accent1>
      <a:accent2>
        <a:srgbClr val="1A9FB3"/>
      </a:accent2>
      <a:accent3>
        <a:srgbClr val="EE6492"/>
      </a:accent3>
      <a:accent4>
        <a:srgbClr val="A1887F"/>
      </a:accent4>
      <a:accent5>
        <a:srgbClr val="43A447"/>
      </a:accent5>
      <a:accent6>
        <a:srgbClr val="9575CD"/>
      </a:accent6>
      <a:hlink>
        <a:srgbClr val="1A9FB3"/>
      </a:hlink>
      <a:folHlink>
        <a:srgbClr val="919191"/>
      </a:folHlink>
    </a:clrScheme>
    <a:fontScheme name="VGR Typsnit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VGR | Sjukvård | Färger">
      <a:dk1>
        <a:sysClr val="windowText" lastClr="000000"/>
      </a:dk1>
      <a:lt1>
        <a:sysClr val="window" lastClr="FFFFFF"/>
      </a:lt1>
      <a:dk2>
        <a:srgbClr val="000000"/>
      </a:dk2>
      <a:lt2>
        <a:srgbClr val="E7E1DF"/>
      </a:lt2>
      <a:accent1>
        <a:srgbClr val="005B89"/>
      </a:accent1>
      <a:accent2>
        <a:srgbClr val="1A9FB3"/>
      </a:accent2>
      <a:accent3>
        <a:srgbClr val="EE6492"/>
      </a:accent3>
      <a:accent4>
        <a:srgbClr val="A1887F"/>
      </a:accent4>
      <a:accent5>
        <a:srgbClr val="43A447"/>
      </a:accent5>
      <a:accent6>
        <a:srgbClr val="9575CD"/>
      </a:accent6>
      <a:hlink>
        <a:srgbClr val="1A9FB3"/>
      </a:hlink>
      <a:folHlink>
        <a:srgbClr val="919191"/>
      </a:folHlink>
    </a:clrScheme>
    <a:fontScheme name="VGR Typsnit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35D6E4C0EE3D49AC12B58F940AF6E2" ma:contentTypeVersion="3" ma:contentTypeDescription="Create a new document." ma:contentTypeScope="" ma:versionID="af62ff97747a3de7d3ffeb514e05649c">
  <xsd:schema xmlns:xsd="http://www.w3.org/2001/XMLSchema" xmlns:xs="http://www.w3.org/2001/XMLSchema" xmlns:p="http://schemas.microsoft.com/office/2006/metadata/properties" xmlns:ns2="5185c9f2-5aba-4a8e-b15e-b07b9b2f075d" targetNamespace="http://schemas.microsoft.com/office/2006/metadata/properties" ma:root="true" ma:fieldsID="c2c5ccbc141fb9a1d1ed518e4b0e0f94" ns2:_="">
    <xsd:import namespace="5185c9f2-5aba-4a8e-b15e-b07b9b2f07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85c9f2-5aba-4a8e-b15e-b07b9b2f0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8F3297-B91B-4B61-A3B4-65C09C1515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85c9f2-5aba-4a8e-b15e-b07b9b2f07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D8AC8-4DBC-4999-9061-E71FEAF54F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0265FF-1E04-4724-89BE-C30F922291E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 mall Presentation</Template>
  <TotalTime>1</TotalTime>
  <Words>559</Words>
  <Application>Microsoft Office PowerPoint</Application>
  <PresentationFormat>Bredbild</PresentationFormat>
  <Paragraphs>92</Paragraphs>
  <Slides>11</Slides>
  <Notes>0</Notes>
  <HiddenSlides>5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4" baseType="lpstr">
      <vt:lpstr>Arial</vt:lpstr>
      <vt:lpstr>Verdana</vt:lpstr>
      <vt:lpstr>SU</vt:lpstr>
      <vt:lpstr>Instruktionssida</vt:lpstr>
      <vt:lpstr>Instruktionssida</vt:lpstr>
      <vt:lpstr>Instruktionssida</vt:lpstr>
      <vt:lpstr>Exempel aktivitetsplan x</vt:lpstr>
      <vt:lpstr>Exempel aktivitetsplan x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ECT vid bordet</dc:title>
  <dc:creator>Mats Liu</dc:creator>
  <cp:lastModifiedBy>Mats Liu</cp:lastModifiedBy>
  <cp:revision>1</cp:revision>
  <dcterms:created xsi:type="dcterms:W3CDTF">2026-10-19T08:17:04Z</dcterms:created>
  <dcterms:modified xsi:type="dcterms:W3CDTF">2026-10-19T08:19:52Z</dcterms:modified>
  <dc:subject>Stimulus, impedans, anfall och säkerhet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0x0101006735D6E4C0EE3D49AC12B58F940AF6E2</vt:lpwstr>
  </property>
  <property fmtid="{D5CDD505-2E9C-101B-9397-08002B2CF9AE}" pid="3" name="MSIP_Label_7a9a9f5e-424d-4a65-97ac-13da87539831_Enabled">
    <vt:lpwstr>true</vt:lpwstr>
  </property>
  <property fmtid="{D5CDD505-2E9C-101B-9397-08002B2CF9AE}" pid="4" name="MSIP_Label_7a9a9f5e-424d-4a65-97ac-13da87539831_SetDate">
    <vt:lpwstr>2026-10-19T08:17:38Z</vt:lpwstr>
  </property>
  <property fmtid="{D5CDD505-2E9C-101B-9397-08002B2CF9AE}" pid="5" name="MSIP_Label_7a9a9f5e-424d-4a65-97ac-13da87539831_Method">
    <vt:lpwstr>Standard</vt:lpwstr>
  </property>
  <property fmtid="{D5CDD505-2E9C-101B-9397-08002B2CF9AE}" pid="6" name="MSIP_Label_7a9a9f5e-424d-4a65-97ac-13da87539831_Name">
    <vt:lpwstr>VGR Standard</vt:lpwstr>
  </property>
  <property fmtid="{D5CDD505-2E9C-101B-9397-08002B2CF9AE}" pid="7" name="MSIP_Label_7a9a9f5e-424d-4a65-97ac-13da87539831_SiteId">
    <vt:lpwstr>fc62a255-4220-47e4-9b5a-418eee31da5f</vt:lpwstr>
  </property>
  <property fmtid="{D5CDD505-2E9C-101B-9397-08002B2CF9AE}" pid="8" name="MSIP_Label_7a9a9f5e-424d-4a65-97ac-13da87539831_ActionId">
    <vt:lpwstr>6d4ddcee-6404-4c54-bfab-1924f701da8c</vt:lpwstr>
  </property>
  <property fmtid="{D5CDD505-2E9C-101B-9397-08002B2CF9AE}" pid="9" name="MSIP_Label_7a9a9f5e-424d-4a65-97ac-13da87539831_ContentBits">
    <vt:lpwstr>0</vt:lpwstr>
  </property>
  <property fmtid="{D5CDD505-2E9C-101B-9397-08002B2CF9AE}" pid="10" name="MSIP_Label_7a9a9f5e-424d-4a65-97ac-13da87539831_Tag">
    <vt:lpwstr>10, 3, 0, 1</vt:lpwstr>
  </property>
</Properties>
</file>